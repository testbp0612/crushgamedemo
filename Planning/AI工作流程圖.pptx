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463d527b7485b" /><Relationship Type="http://schemas.openxmlformats.org/officeDocument/2006/relationships/extended-properties" Target="/docProps/app.xml" Id="R2fa4778463744f08" /><Relationship Type="http://schemas.openxmlformats.org/officeDocument/2006/relationships/officeDocument" Target="/ppt/presentation.xml" Id="R843c61ea5229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4a2f8a7c544346"/>
  </p:sldMasterIdLst>
  <p:notesMasterIdLst>
    <p:notesMasterId xmlns:r="http://schemas.openxmlformats.org/officeDocument/2006/relationships" r:id="Rfc7800dd7adb4559"/>
  </p:notesMasterIdLst>
  <p:sldIdLst>
    <p:sldId xmlns:r="http://schemas.openxmlformats.org/officeDocument/2006/relationships" id="256" r:id="Rfc733ea623ae496a"/>
    <p:sldId xmlns:r="http://schemas.openxmlformats.org/officeDocument/2006/relationships" id="257" r:id="R68b2067e37c440d6"/>
    <p:sldId xmlns:r="http://schemas.openxmlformats.org/officeDocument/2006/relationships" id="258" r:id="R0452f985d7794c67"/>
    <p:sldId xmlns:r="http://schemas.openxmlformats.org/officeDocument/2006/relationships" id="259" r:id="Rc82c66aadebe49e5"/>
    <p:sldId xmlns:r="http://schemas.openxmlformats.org/officeDocument/2006/relationships" id="260" r:id="R14792a0a32f540f5"/>
    <p:sldId xmlns:r="http://schemas.openxmlformats.org/officeDocument/2006/relationships" id="261" r:id="R02428f6e78cb4155"/>
    <p:sldId xmlns:r="http://schemas.openxmlformats.org/officeDocument/2006/relationships" id="262" r:id="Rcb9929ce0e9e4ede"/>
    <p:sldId xmlns:r="http://schemas.openxmlformats.org/officeDocument/2006/relationships" id="263" r:id="Rf7ff25b8a7754be4"/>
    <p:sldId xmlns:r="http://schemas.openxmlformats.org/officeDocument/2006/relationships" id="264" r:id="R99ec108de24446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139686e9124f0d" /><Relationship Type="http://schemas.openxmlformats.org/officeDocument/2006/relationships/slideMaster" Target="/ppt/slideMasters/slideMaster1.xml" Id="R0a4a2f8a7c544346" /><Relationship Type="http://schemas.openxmlformats.org/officeDocument/2006/relationships/notesMaster" Target="/ppt/notesMasters/notesMaster1.xml" Id="Rfc7800dd7adb4559" /><Relationship Type="http://schemas.openxmlformats.org/officeDocument/2006/relationships/presProps" Target="/ppt/presProps.xml" Id="R4f5a116b84be4991" /><Relationship Type="http://schemas.openxmlformats.org/officeDocument/2006/relationships/viewProps" Target="/ppt/viewProps.xml" Id="Rc82377d68862499c" /><Relationship Type="http://schemas.openxmlformats.org/officeDocument/2006/relationships/tableStyles" Target="/ppt/tableStyles.xml" Id="R13e55bd31d7a4384" /><Relationship Type="http://schemas.openxmlformats.org/officeDocument/2006/relationships/slide" Target="/ppt/slides/slide1.xml" Id="Rfc733ea623ae496a" /><Relationship Type="http://schemas.openxmlformats.org/officeDocument/2006/relationships/slide" Target="/ppt/slides/slide2.xml" Id="R68b2067e37c440d6" /><Relationship Type="http://schemas.openxmlformats.org/officeDocument/2006/relationships/slide" Target="/ppt/slides/slide3.xml" Id="R0452f985d7794c67" /><Relationship Type="http://schemas.openxmlformats.org/officeDocument/2006/relationships/slide" Target="/ppt/slides/slide4.xml" Id="Rc82c66aadebe49e5" /><Relationship Type="http://schemas.openxmlformats.org/officeDocument/2006/relationships/slide" Target="/ppt/slides/slide5.xml" Id="R14792a0a32f540f5" /><Relationship Type="http://schemas.openxmlformats.org/officeDocument/2006/relationships/slide" Target="/ppt/slides/slide6.xml" Id="R02428f6e78cb4155" /><Relationship Type="http://schemas.openxmlformats.org/officeDocument/2006/relationships/slide" Target="/ppt/slides/slide7.xml" Id="Rcb9929ce0e9e4ede" /><Relationship Type="http://schemas.openxmlformats.org/officeDocument/2006/relationships/slide" Target="/ppt/slides/slide8.xml" Id="Rf7ff25b8a7754be4" /><Relationship Type="http://schemas.openxmlformats.org/officeDocument/2006/relationships/slide" Target="/ppt/slides/slide9.xml" Id="R99ec108de24446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f576d6399e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cd51e00a834954" /><Relationship Type="http://schemas.openxmlformats.org/officeDocument/2006/relationships/notesMaster" Target="/ppt/notesMasters/notesMaster1.xml" Id="Rf258f9e17e1046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a551a63304fc8" /><Relationship Type="http://schemas.openxmlformats.org/officeDocument/2006/relationships/notesMaster" Target="/ppt/notesMasters/notesMaster1.xml" Id="R75acd4b08d0044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f43359ba34c0a" /><Relationship Type="http://schemas.openxmlformats.org/officeDocument/2006/relationships/notesMaster" Target="/ppt/notesMasters/notesMaster1.xml" Id="R4c3ca05de9784a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9f7143c8994dcf" /><Relationship Type="http://schemas.openxmlformats.org/officeDocument/2006/relationships/notesMaster" Target="/ppt/notesMasters/notesMaster1.xml" Id="Rda6aa7e524924a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d2ea1e91324384" /><Relationship Type="http://schemas.openxmlformats.org/officeDocument/2006/relationships/notesMaster" Target="/ppt/notesMasters/notesMaster1.xml" Id="R2d3bbdfdfe69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30f6e8796f456e" /><Relationship Type="http://schemas.openxmlformats.org/officeDocument/2006/relationships/notesMaster" Target="/ppt/notesMasters/notesMaster1.xml" Id="Rbdb47eada0244a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c82223548549c7" /><Relationship Type="http://schemas.openxmlformats.org/officeDocument/2006/relationships/notesMaster" Target="/ppt/notesMasters/notesMaster1.xml" Id="Re99a5881a78d4d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51a028569044ba" /><Relationship Type="http://schemas.openxmlformats.org/officeDocument/2006/relationships/notesMaster" Target="/ppt/notesMasters/notesMaster1.xml" Id="R216d0303060b4a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119c052164c3a" /><Relationship Type="http://schemas.openxmlformats.org/officeDocument/2006/relationships/notesMaster" Target="/ppt/notesMasters/notesMaster1.xml" Id="Reaf763e75e2147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目標不只是完成一款遊戲，而是驗證「小團隊＋多個 AI」能以工程化流程穩定出貨。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泳道上色：珊瑚紅=人類決策點（企劃、拍板、驗收）；深藍=Claude 規劃與治理；藍綠=執行 AI 與工具；金=最終成果。兩個菱形是人類把關點。虛線=回饋迴圈。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8d4e5f3524b8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8fb0e2d0a4026" /><Relationship Type="http://schemas.openxmlformats.org/officeDocument/2006/relationships/slideLayout" Target="/ppt/slideLayouts/slideLayout1.xml" Id="R7275968a33944ff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75968a33944fff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d9edab624743" /><Relationship Type="http://schemas.openxmlformats.org/officeDocument/2006/relationships/notesSlide" Target="/ppt/notesSlides/notesSlide1.xml" Id="Ra184a057228044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9e7fe92ec47f6" /><Relationship Type="http://schemas.openxmlformats.org/officeDocument/2006/relationships/notesSlide" Target="/ppt/notesSlides/notesSlide2.xml" Id="Rd7fa234eed54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430a535314660" /><Relationship Type="http://schemas.openxmlformats.org/officeDocument/2006/relationships/notesSlide" Target="/ppt/notesSlides/notesSlide3.xml" Id="R045e254b303b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8accf87f24b2e" /><Relationship Type="http://schemas.openxmlformats.org/officeDocument/2006/relationships/notesSlide" Target="/ppt/notesSlides/notesSlide4.xml" Id="R3424cc7eb12e43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18a42946a4447" /><Relationship Type="http://schemas.openxmlformats.org/officeDocument/2006/relationships/notesSlide" Target="/ppt/notesSlides/notesSlide5.xml" Id="Rd86e45e5639c4d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d9a00d1cb455b" /><Relationship Type="http://schemas.openxmlformats.org/officeDocument/2006/relationships/notesSlide" Target="/ppt/notesSlides/notesSlide6.xml" Id="R1bc7bb70747a45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c8de1aeca44c4" /><Relationship Type="http://schemas.openxmlformats.org/officeDocument/2006/relationships/notesSlide" Target="/ppt/notesSlides/notesSlide7.xml" Id="R5e19a7d1dbec4a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194b915b945cd" /><Relationship Type="http://schemas.openxmlformats.org/officeDocument/2006/relationships/notesSlide" Target="/ppt/notesSlides/notesSlide8.xml" Id="R7eba1ba4a0824e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17a33fbb94f91" /><Relationship Type="http://schemas.openxmlformats.org/officeDocument/2006/relationships/notesSlide" Target="/ppt/notesSlides/notesSlide9.xml" Id="R55176ed6de5444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2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CB7A36-8CE1-4C95-AD68-507BFABA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46304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>
              <a:alpha val="65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B8A150-59E6-489D-9048-79BBAB42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80160" y="484632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>
              <a:alpha val="2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AE2621-4E90-4AA4-B7FD-86170D0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5074920"/>
            <a:ext cx="1110996" cy="925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8DF17D-8DC5-4F39-875C-59799480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531" y="4309567"/>
            <a:ext cx="370332" cy="46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69B0F7F-4AF4-476C-8C0D-19F2C61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930" y="4087368"/>
            <a:ext cx="370332" cy="46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438F590-89FA-427B-97F9-08A66BB4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017" y="4112057"/>
            <a:ext cx="370332" cy="46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55EE584-13E0-4C96-80CF-80981694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726" y="4383634"/>
            <a:ext cx="345643" cy="4443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A45E74D-3792-47AC-897C-913A15E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85800"/>
            <a:ext cx="658368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2394F62-57BD-40CE-998C-EA026BE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30" y="232258"/>
            <a:ext cx="219456" cy="277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2ABA561-AD40-4A5D-B0F4-9AC138F8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7" y="100584"/>
            <a:ext cx="219456" cy="277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69D7F78-AE3A-4F0C-A541-5A1C45A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54" y="115214"/>
            <a:ext cx="219456" cy="277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61E1B0-6D80-41B3-835E-E86ED1B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71" y="276149"/>
            <a:ext cx="204826" cy="263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7B646B8-202A-4DE5-87E4-E4400E0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9E795"/>
                </a:solidFill>
                <a:latin typeface="Microsoft JhengHei"/>
                <a:ea typeface="Microsoft JhengHei"/>
                <a:cs typeface="Microsoft JhengHei"/>
              </a:rPr>
              <a:t>公司 AI 遊戲比賽・繳交文件（二）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B69435F-9B0C-4A80-938B-195F0C23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開發工作流程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ACCC1C-AF94-472F-BFD9-41F72AF8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CrushGameDemo — 一套可複製的 AI 遊戲開發生產線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2B282C7-A7A8-4CF0-BD47-2D93815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7406640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F3C7E">
              <a:alpha val="75000"/>
            </a:srgbClr>
          </a:solidFill>
          <a:ln xmlns:a="http://schemas.openxmlformats.org/drawingml/2006/main" w="12700">
            <a:solidFill>
              <a:srgbClr val="4A5694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1B774F-5693-4E31-B46E-F580E36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77640"/>
            <a:ext cx="6949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 prompt 技巧，而是一套有煞車、有證據、有驗收的 AI 生產線。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B4EF36B-586C-4DE8-8DD7-222E320D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9AA6D6"/>
                </a:solidFill>
                <a:latin typeface="Microsoft JhengHei"/>
                <a:ea typeface="Microsoft JhengHei"/>
                <a:cs typeface="Microsoft JhengHei"/>
              </a:rPr>
              <a:t>已上線：https://crushgamedemo-bloop.web.app</a:t>
            </a:r>
          </a:p>
        </p:txBody>
      </p:sp>
    </p:spTree>
    <p:extLst>
      <p:ext uri="{BB962C8B-B14F-4D97-AF65-F5344CB8AC3E}">
        <p14:creationId xmlns:p14="http://schemas.microsoft.com/office/powerpoint/2010/main" val="13775903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520990-B35B-4DAA-B03C-B01E87C4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CORE DESIGN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9B70FB-1167-4D7B-94F0-1DDE1608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先解決 AI 協作的風險：失憶與漂移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2E24DD-8B3F-4BD5-BF95-4BFA2A49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53949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2700">
            <a:solidFill>
              <a:srgbClr val="F9616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C3B84C-61B6-4526-821B-045D4A11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4937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問題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只靠聊天上下文協作 AI → 遺忘、誤解、方向漂移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BB9765B-7D91-4658-AE6F-1C128521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594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C12AB2B-7C50-4330-B058-C23ACC8A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528523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0004631-23F7-4610-B530-D4FCB414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846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9E795"/>
                </a:solidFill>
                <a:latin typeface="Microsoft JhengHei"/>
                <a:ea typeface="Microsoft JhengHei"/>
                <a:cs typeface="Microsoft JhengHei"/>
              </a:rPr>
              <a:t>解法　</a:t>
            </a: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repo 文件是人類與所有 AI 工具的共同介面</a:t>
            </a:r>
          </a:p>
        </p:txBody>
      </p:sp>
      <p:graphicFrame>
        <p:nvGraphicFramePr>
          <p:cNvPr id="17" name="Table 0"/>
          <p:cNvGraphicFramePr/>
          <p:nvPr/>
        </p:nvGraphicFramePr>
        <p:xfrm>
          <a:off xmlns:a="http://schemas.openxmlformats.org/drawingml/2006/main" x="502920" y="2606040"/>
          <a:ext xmlns:a="http://schemas.openxmlformats.org/drawingml/2006/main" cx="1118311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0480"/>
                <a:gridCol w="7342632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2F3C7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AGENTS.md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行為鐵則（最高準則）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Docs/ 規格＋Data/*.json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單一真實來源，禁止寫死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OPEN_QUESTIONS.md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不確定 → 停下提問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DECISIONS.md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人類拍板，append-only 不可竄改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Codex/ 任務卡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一次一張，邊界明確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每步可追溯，session 間不依賴記憶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60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2CD059-90FE-41C5-8702-C690618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MASTER FLOW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D0B6C6-0015-46C1-B09F-E643818A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一張圖看懂：文件如何串起所有 AI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38FD12-3A08-4DC5-BFC4-17B47DE4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98448"/>
            <a:ext cx="141732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人類提出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遊戲企劃與目標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E1A242-7579-4A1A-B8EC-8E37F3B6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298448"/>
            <a:ext cx="182880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F3C7E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Claude：拆解規格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資料結構與任務卡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019E6D5-4DFF-43B5-A461-CC9EF796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43584"/>
            <a:ext cx="1325880" cy="6583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F9616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27AA9C-BB5F-438A-B134-79043502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243584"/>
            <a:ext cx="1600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規格是否</a:t>
            </a:r>
          </a:p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明確？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9A10EBB-CA3C-490E-8FC4-C23ABFB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98448"/>
            <a:ext cx="19202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F3C7E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OPEN_QUESTIONS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停止猜測並提出選項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CCF568-CEC7-419A-8223-B98DD34F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298448"/>
            <a:ext cx="14630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人類審核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選擇與拍板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FAE440-CA9B-4B33-93A4-DF48AFAC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298448"/>
            <a:ext cx="173736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DECISIONS 追加式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保存決策與影響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C57238A-D246-4C88-8B4C-4A746B2E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57276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5C0484-100F-446F-85EA-9D9FB88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572768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1647E3-D211-4C91-9F69-B6CA7BA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572768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A41AA9-D68A-424E-A139-4BBB2E47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1078992"/>
            <a:ext cx="457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169A610-B3EC-4FF5-AAB2-E2E86478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57276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2603533-A1DD-49B0-85FF-49D1F1AC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57276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AAFABC2-13F5-408B-BA13-C562F887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927080" y="1024128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86F8B5D-51D9-4942-B8A2-F8658516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17520" y="1024128"/>
            <a:ext cx="7909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C5FE9A3-F990-427C-9DAC-511380A0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024128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2325D5-4080-49C7-9DD9-BE9D68E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Docs 規格＋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Data JSON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單一真實來源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AD860E-C7B8-40A8-BE09-1898DE4D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293522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E4338B-DE51-4251-9CCC-EF3F0B1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GPT Image-2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靜態素材生成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549FC5D-DED4-4B18-A38A-35E2DED7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293522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EC3CAB2-6038-46FD-A5CC-C141F53C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Photoshop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去背／Canvas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標準化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5240E63-4EC8-4906-97CF-5C590B1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522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0A3D23B-D963-43B6-8ED2-D2B67FB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Magnific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角色動畫生成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2A373E8-E856-48AC-BAE9-B0106440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93522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90D0D48-64C0-4BFA-9DAF-1CB2C61A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AE 動態去背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輸出 PNG 序列圖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FE5CE0E-1EA7-41CE-B1A2-A43AE92A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93522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CF87FBA-77FD-4610-BA71-0FB5C57F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3C7E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Claude 批量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Sprite Sheet＋JSON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3B93752-CE44-4CF1-9C40-2FC5C7AC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93522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5980575-495E-4336-A1B1-D6D862C4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Manifest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規格檢查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AAE10B5-5D39-4617-B0B9-5470E2B1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293522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998D5EA-7601-4439-BDEC-31FE063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2578608"/>
            <a:ext cx="1298448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E795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Assets/final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正式素材入口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8116267-3732-4F00-ADE1-F293CC1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1901952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8668DE8-3F30-4135-BD7E-CA4CDC4B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4984" y="2103120"/>
            <a:ext cx="39456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723DDF1-3BC1-4BF9-9803-E86660F6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103120"/>
            <a:ext cx="0" cy="475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5B413FE-E86E-4908-92A6-59AEDD35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38528"/>
            <a:ext cx="457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28090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BBEC2FB-01A2-4037-A2B9-CFFDC22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58768"/>
            <a:ext cx="19202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Codex：一次執行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一張 Godot 任務卡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2C440BA-B630-4DC6-9E4E-21F7BC99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858768"/>
            <a:ext cx="23317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Placeholder fallback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素材缺失仍可完成流程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A6EC366-D9AA-4C5F-A9E4-2B5F897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858768"/>
            <a:ext cx="26060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桌面 Godot＋Headless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＋截圖＋H5 實跑驗收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E4385AFD-2DE0-4B5A-B86D-B9AB2A2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2192"/>
            <a:ext cx="1371600" cy="71323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F96167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2B0CC65-3154-4D53-9AF7-322C619E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22192"/>
            <a:ext cx="1645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人類驗收</a:t>
            </a:r>
          </a:p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通過？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C55DF73-34B2-44F4-A6C4-7D83D1EF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858768"/>
            <a:ext cx="160020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回饋修正；方向變更</a:t>
            </a:r>
          </a:p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重走 Q → D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5047B52-6394-4A6F-8360-D70E10BE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78808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2753391E-F88C-46E0-88E4-AA94788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8808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3216B684-1642-4179-9599-2715DC7D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178808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239088E-BC60-45AB-92CE-EC34BC0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78808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64F8E48-2E11-4D39-B402-95EE8A0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3657600"/>
            <a:ext cx="457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12AD40E0-E983-4FB1-96A4-BC7E9E8F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291840"/>
            <a:ext cx="0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8AFA398E-5AD1-47F9-B458-40F0A16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3575304"/>
            <a:ext cx="9765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2AF6ECCB-797E-46FE-826E-7B5495A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75304"/>
            <a:ext cx="0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E49ED35E-BAFC-4F15-92A0-8C6C0374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498848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459B9205-46F4-41DF-B395-3494ABBC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4791456"/>
            <a:ext cx="9665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DC0A5B25-8BFB-42B2-BD3E-9EDF2B4B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5880" y="4498848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  <a:tailEnd type="triangle"/>
          </a:ln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3D445B4E-84FF-405A-B5F5-C4EBF726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85232"/>
            <a:ext cx="23774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Git 保存文件、程式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決策與正式產物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7A685546-AF16-4697-9DD0-2B9AF12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285232"/>
            <a:ext cx="30175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Claude／Codex：Firebase CLI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＋瀏覽器部署驗證</a:t>
            </a:r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EC83FE86-9B6B-4442-9F56-C6360577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285232"/>
            <a:ext cx="219456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E795"/>
          </a:solidFill>
          <a:ln xmlns:a="http://schemas.openxmlformats.org/drawingml/2006/main" w="15875">
            <a:solidFill>
              <a:srgbClr val="D9C650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22B5C"/>
                </a:solidFill>
                <a:latin typeface="Microsoft JhengHei"/>
                <a:ea typeface="Microsoft JhengHei"/>
                <a:cs typeface="Microsoft JhengHei"/>
              </a:rPr>
              <a:t>可玩的 H5 上線產品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12B985AF-4885-455E-9ECA-D6DE3416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527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0AB0C41F-C6DC-4C86-BCEC-1E5C56F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527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EA9DB821-3804-47DD-B2FA-ED88C24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5424"/>
            <a:ext cx="0" cy="566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EE8BCF77-55D9-476F-AFD5-7F88876E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554480" y="5102352"/>
            <a:ext cx="7589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9730B4C1-AB98-4AF0-A3C9-BEB60111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102352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83844D45-B975-4B4B-9C2A-2777723D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4553712"/>
            <a:ext cx="457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28090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7677445E-703D-44D9-8295-02D8376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239512"/>
            <a:ext cx="26060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CDDC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4B837F84-350F-4130-9225-30B421A1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5394960"/>
            <a:ext cx="219456" cy="1645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6167"/>
          </a:solidFill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8FE1EE7E-7CFD-4B70-97C2-062773FC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30952"/>
            <a:ext cx="1051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人類決策點</a:t>
            </a:r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1ED8B3D1-EA95-44F2-A0BF-E75D9037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5394960"/>
            <a:ext cx="219456" cy="1645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33075D1F-BA11-46D1-B0F7-0241B30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5330952"/>
            <a:ext cx="1051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Claude／規劃治理</a:t>
            </a:r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4635FC91-4949-4BE6-96F0-6C6F6CB8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5779008"/>
            <a:ext cx="219456" cy="1645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A3EA507B-CA38-45C3-B008-C35032E5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715000"/>
            <a:ext cx="1051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執行 AI 與工具</a:t>
            </a:r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DC95F36C-89ED-4976-87D4-CF63411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5779008"/>
            <a:ext cx="219456" cy="1645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E795"/>
          </a:solidFill>
        </p:spPr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417A4941-95AC-4891-A06E-66F84376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5715000"/>
            <a:ext cx="1051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文件產物／最終成果</a:t>
            </a:r>
          </a:p>
        </p:txBody>
      </p:sp>
    </p:spTree>
    <p:extLst>
      <p:ext uri="{BB962C8B-B14F-4D97-AF65-F5344CB8AC3E}">
        <p14:creationId xmlns:p14="http://schemas.microsoft.com/office/powerpoint/2010/main" val="4546515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8B89377-0B75-43DC-B529-F4347394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MECHANISM 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588514-8A41-4AB6-9EAF-EA8D9E03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第一道煞車：不確定就停，Q → D 才動工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753293A-79B3-47E0-B899-F7F90D1B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210312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遇到模糊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或範圍變更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59C9A87-92D1-4943-B34C-11B451AE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208026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096A5C-4231-4203-B843-3B58698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1600200"/>
            <a:ext cx="210312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F3C7E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寫入 OPEN_QUESTIONS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附選項與影響分析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9343AF5-BA6A-42D8-8125-BDCE2F04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208026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48CF25-86EA-48AB-8B14-E03BC10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1600200"/>
            <a:ext cx="210312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人類審核拍板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7A395E-D4F1-479C-812A-61FB64BB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026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28F1F4-C307-4533-A8EC-155AA021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600200"/>
            <a:ext cx="210312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寫入 DECISIONS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append-only・推翻用新編號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A285A5F-C940-42D3-A7A6-90B965E1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208026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FBADAD-A23F-4396-BD4D-899569F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1600200"/>
            <a:ext cx="210312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依定案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繼續執行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D9E158-82C1-4B5D-A900-9C5D8FB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784" y="256032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20BF1C2-F4B4-44F4-AA83-45EC2ED9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554480" y="2926080"/>
            <a:ext cx="9290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67AAFBA-2746-466A-A008-5C3DD229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54480" y="256032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dash"/>
            <a:tailEnd type="triangle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C0169AA-58DE-422C-8E4A-0B58FD96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761488"/>
            <a:ext cx="32004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下一次不確定，再走一次迴圈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DE1E3B5-1FE9-456D-8708-517FF0E0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03320"/>
            <a:ext cx="539496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5875">
            <a:solidFill>
              <a:srgbClr val="F9616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A4807A2-1274-4F3F-8301-6757C0A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62B8E4C-E440-4878-A65F-611C3D43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77640"/>
            <a:ext cx="3291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筆提問全數經人類裁示後才動工
</a:t>
            </a:r>
            <a:r>
              <a:rPr sz="15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0 筆 AI 擅自猜測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9F663D7-674A-4B23-B5DF-1D6C90C3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一般問題 7 筆＋美術問題 5 筆，均標示 ANSWERED 並對應 D-XXX 決策編號。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82DD84F-82B4-4F70-A642-FF40BB1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03320"/>
            <a:ext cx="5422392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F6F5D3C-D218-4386-B648-F2782F8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931920"/>
            <a:ext cx="48920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實例：AI 不擅自新增後端
</a:t>
            </a: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Google 登入超出 MVP 範圍 → AI 先提 Q-005 整理 Firebase 方案與風險 → 人類定案 D-015 → 才拆成任務卡實作。</a:t>
            </a:r>
          </a:p>
        </p:txBody>
      </p:sp>
    </p:spTree>
    <p:extLst>
      <p:ext uri="{BB962C8B-B14F-4D97-AF65-F5344CB8AC3E}">
        <p14:creationId xmlns:p14="http://schemas.microsoft.com/office/powerpoint/2010/main" val="18186385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27E3B3-F34D-42D9-87D7-3D48011A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MECHANISM 2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505840-814A-40DC-9773-79CE9450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第二道煞車：每張任務卡都要閉環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5F1C824-908C-4D89-AB69-CC1C17F1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345DF-4CA4-40A6-AFFA-7F80D1D4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550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0CA796-77DD-4556-BFE8-F04330AA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5506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CCA533-B241-40CC-9DF7-6C8E7417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6304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讀 AGENTS.md、規格與最新決策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AF5A113-CBBC-402F-AD6A-9AAA7D3F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8BCDCB-31B8-45D0-800D-29A9B854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61518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3B4F98A-968D-44D6-934C-4015EAE4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61518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D4943D-660D-43D9-8E17-519FE702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42316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只做當前一張卡，確認「要做／不做／驗收」邊界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C4AA360-AA42-4C1D-99C9-88F623A6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3503B70-D1EB-4408-92D2-399C646A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57530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9062522-6198-45FB-A576-6C01AB91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57530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A3FA0C-657C-4405-8ED0-DB87AC23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8328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數值文案一律讀 Data/*.json，不寫死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9451071-5D11-420A-8EA2-3D86432E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9AB9D9B-9740-4BD7-88D0-F2D438F4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53542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0214AF-B295-4A14-9EDA-593625F2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53542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EBC3049-799A-4222-88DF-4ADE337E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340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不明確 → 寫 Q 等人類，不猜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2453D99-B01E-4A19-A706-A31A1E8B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6304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17E4DB7-DDBC-4640-9ABC-F5BD6C3C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6550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AE06B0-D073-4C8A-9CA6-594AA96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65506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18C59AD-1CE0-401F-A940-0530425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46304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依卡修改程式、場景、資料或素材接點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BBBF729-5300-491C-9870-6DA3D20D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2316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C1008F3-E730-4C33-A09E-89B983DB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61518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B45D3FD-BFFC-4B29-9240-F389CD20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61518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60D07BE-1300-40D5-ABA3-B608E8B7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42316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自動驗證：語法、資料、實跑、截圖、H5、fallback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B5CD792-F01D-49F0-8C03-5B9C890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8328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5875">
            <a:solidFill>
              <a:srgbClr val="F96167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67665AE-1CC0-4395-913F-93754373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7530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38E62D4-7961-4ED5-B15C-7DB0DB5D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7530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CB4D139-F400-4B21-8BEE-F807507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8328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人類實際遊玩驗收，提修正或確認通過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15FFBFA-B711-49D1-B669-58CC5814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43400"/>
            <a:ext cx="54406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C42C22E-9D51-4C11-9113-AD1A7B2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53542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E1267CB-FDDC-441F-BF8F-0A33A5E4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53542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E346347-4EA5-4F42-A07C-6561D4A6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43400"/>
            <a:ext cx="4526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Git 保存 → 下個 AI session 不依賴聊天記憶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3963048-2EE8-4065-BF50-9BCBAE4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86400"/>
            <a:ext cx="11183112" cy="6858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9E795">
              <a:alpha val="45000"/>
            </a:srgbClr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FD3CEBA-6CF9-4AD1-9A28-D7726F62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實績：</a:t>
            </a:r>
            <a:r>
              <a:rPr sz="14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27 張卡片全數走完此閉環，各有 Git 紀錄。</a:t>
            </a:r>
          </a:p>
        </p:txBody>
      </p:sp>
    </p:spTree>
    <p:extLst>
      <p:ext uri="{BB962C8B-B14F-4D97-AF65-F5344CB8AC3E}">
        <p14:creationId xmlns:p14="http://schemas.microsoft.com/office/powerpoint/2010/main" val="9812614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0D0772-F5B5-4729-AA69-A4C351E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MECHANISM 3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C9C052-B04B-4F4A-8359-D844EEC7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小團隊不互等：工程與美術平行合流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4902B8-6ACA-4274-BD55-7BB4934A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786384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22BD5D4-776B-42EA-A69E-2A90C5C6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904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28090"/>
                </a:solidFill>
                <a:latin typeface="Microsoft JhengHei"/>
                <a:ea typeface="Microsoft JhengHei"/>
                <a:cs typeface="Microsoft JhengHei"/>
              </a:rPr>
              <a:t>工程線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817587-B47C-4CE9-9680-5C8FE67C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3774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Placeholder 素材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37C702-28DE-41C6-BBB5-2391E88C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965960"/>
            <a:ext cx="32918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完整可玩閉環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C5820C6-C82C-4E57-9ECA-1BF13AD6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86000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315E67A-2F48-4AC8-A27A-5DBD1484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786384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2700">
            <a:solidFill>
              <a:srgbClr val="2F3C7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0C0B22F-6100-4592-A569-BAAED486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3639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美術線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286C841-A6E5-4164-988B-AC837C86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1880"/>
            <a:ext cx="2011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GPT Image-2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靜態素材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9A85396-3059-4FDE-9E0E-572E51D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11880"/>
            <a:ext cx="30175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F3C7E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PS → Magnific → AE → Claude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動畫資產管線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98BCF70-A1E3-4B16-BA7F-65EBFE1B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611880"/>
            <a:ext cx="16916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Manifest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規格檢查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CCC3AE-2D42-452E-8F10-6FC2635D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93192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0BC5B31-C032-41ED-92FB-A4FCE0A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3192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6E006CF-A067-4C46-9561-1CD066D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31720"/>
            <a:ext cx="265176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9E795"/>
          </a:solidFill>
          <a:ln xmlns:a="http://schemas.openxmlformats.org/drawingml/2006/main" w="15875">
            <a:solidFill>
              <a:srgbClr val="D9C650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22B5C"/>
                </a:solidFill>
                <a:latin typeface="Microsoft JhengHei"/>
                <a:ea typeface="Microsoft JhengHei"/>
                <a:cs typeface="Microsoft JhengHei"/>
              </a:rPr>
              <a:t>Assets/final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22B5C"/>
                </a:solidFill>
                <a:latin typeface="Microsoft JhengHei"/>
                <a:ea typeface="Microsoft JhengHei"/>
                <a:cs typeface="Microsoft JhengHei"/>
              </a:rPr>
              <a:t>同檔名放入即換裝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0F2DB1-91B1-464A-A297-768D7A93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611880"/>
            <a:ext cx="265176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28090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遊戲自動換裝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缺檔 fallback 不崩潰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406F13B-7773-4B22-B933-4E4920D3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286000"/>
            <a:ext cx="1645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E854DD0-CDFB-48D1-A731-41193221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93192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E51B50D-4C10-44AB-8A68-06244C55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063240"/>
            <a:ext cx="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03F76A-38FC-4E94-BF73-C5641956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177800" indent="-177800">
              <a:buChar char="●"/>
            </a:pP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程式只認 final/ 與 placeholder 兩個入口，正式圖到位即自動生效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659D048-4ADB-447E-8965-478E5FAD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1808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177800" indent="-177800">
              <a:buChar char="●"/>
            </a:pP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美術規格衝突不硬改：走 Q-ART 提案 → 人類裁示 → Contract 升版（v1.0 → v1.5）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BE4476D-0535-4200-A979-475E3264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177800" indent="-177800">
              <a:buChar char="●"/>
            </a:pP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小團隊下班時間開發：程式、美術與雲端工作不必互相等待</a:t>
            </a:r>
          </a:p>
        </p:txBody>
      </p:sp>
    </p:spTree>
    <p:extLst>
      <p:ext uri="{BB962C8B-B14F-4D97-AF65-F5344CB8AC3E}">
        <p14:creationId xmlns:p14="http://schemas.microsoft.com/office/powerpoint/2010/main" val="4773026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D358EF-ACE7-4EC0-B866-ACE67870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ART PIPELINE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D02FC9-39BE-4D80-B94C-DAB78244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AI 圖不是成品：8 步變成遊戲資產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27FDED-6EFE-400D-852E-1889A047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9616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D9ED09-20EE-45FF-B23B-438C511D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463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E097107-F053-4A9A-B78B-465F97E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371600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風格版／世界觀
</a:t>
            </a:r>
            <a:r>
              <a:rPr sz="90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人類定調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3ADC382-55D3-42E6-AB73-21B86FC1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88366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1A5BCC2-442D-4D50-AA21-3508527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1371600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BEC8EFA-F6EE-4FA3-96B0-ED26E18D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1463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3B408DF-96DF-42FE-9CCD-7477D0D3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1371600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Style Bible
Prompt 規格
</a:t>
            </a:r>
            <a:r>
              <a:rPr sz="90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降低風格漂移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65E50B9-39C2-490E-9BAA-5ED006E0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8366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A860E07-1433-4A51-B948-4F10A1F8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71600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4666D9-468E-4D92-A029-98460911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63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CE6EFFD-B776-4B12-9AB3-25DC07F5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371600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GPT Image-2
靜態生成
</a:t>
            </a:r>
            <a:r>
              <a:rPr sz="90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設計挑選微調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BD30A37-0851-4AB9-95CA-290CE09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1883664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ED107F0-F70D-43E0-BDE8-88DA7E9A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371600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DE9717-26BA-49DF-8D83-1FD61D27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1463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3C7E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CAC09FC-3F97-4045-BD1B-F43B61DC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1371600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Photoshop
標準化
</a:t>
            </a:r>
            <a:r>
              <a:rPr sz="90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去背/Canvas 統一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97F8A1B-0D3C-4F9A-BE62-63AD1A10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15768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6FC3CD5-933D-4992-B44B-77927123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8072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F965D6E-D878-4AF1-ABB7-AF90862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15768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Magnific
角色動畫
</a:t>
            </a:r>
            <a:r>
              <a:rPr sz="90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Idle/Attack/Dead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1474C46-9250-40CA-8D90-C0E1ED1E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2278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BB437C8-22BD-4145-B5F7-7593603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715768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051ECF6-091D-4394-94BA-40FF87B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8072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3C7E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D57B569-EA7B-4558-A6D5-B452A401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2715768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AE 序列圖
</a:t>
            </a:r>
            <a:r>
              <a:rPr sz="90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動態去背輸出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3015F7C-B1AB-4D74-AAE8-E45C093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2278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0298609-756D-4327-A844-8A588044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715768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6E56D09-F013-4668-8B93-9961FC3A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072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47C9763-15BC-4A89-82FF-13CF8C7B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715768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Claude
Sprite Sheet＋JSON
</a:t>
            </a:r>
            <a:r>
              <a:rPr sz="90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資產工程化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3E7BCC4-416F-4F96-B304-25D0DD3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32278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A7DB385-6C39-43E9-92F4-10928FE0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715768"/>
            <a:ext cx="269748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9E795"/>
          </a:solidFill>
          <a:ln xmlns:a="http://schemas.openxmlformats.org/drawingml/2006/main" w="12700">
            <a:solidFill>
              <a:srgbClr val="C9CDDC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457FBD1-5F2B-4286-B535-6DD00888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8072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3C7E">
                    <a:alpha val="70000"/>
                  </a:srgbClr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CEFA2CC-F8FB-43AB-9043-C559E72D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715768"/>
            <a:ext cx="21031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GitHub
資產管理
</a:t>
            </a:r>
            <a:r>
              <a:rPr sz="90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版本/命名/交付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038D4FE-DF34-418C-BB43-ABF1E89B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4048" y="1883664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CAFF62D-DA8C-4453-84CD-3D133895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0" y="1883664"/>
            <a:ext cx="0" cy="1344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D757E34-A591-4EA1-B7CD-816C9F6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814048" y="3227832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A13EF3A-AD0E-4631-A38A-C6311BC5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3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不讓 AI 直接生 Sprite Sheet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逐幀不一致、比例漂移——動畫影片轉序列圖更穩定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B8E80D-5975-4170-A88C-864D71BD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5192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3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設計＝AI Art Director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世界觀、一致性、動畫品質由人判斷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F210DDB-A252-45A5-8867-D228001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6984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3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價值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AI 放大美術產能，並將 AI 產物轉換成 RD 可直接整合的遊戲資產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739D468-7170-448A-A3D7-80202AF1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補足兩人團隊（設計＋Web RD）沒有動畫師與 Technical Artist 的產能缺口——詳見繳交文件第九章。</a:t>
            </a:r>
          </a:p>
        </p:txBody>
      </p:sp>
    </p:spTree>
    <p:extLst>
      <p:ext uri="{BB962C8B-B14F-4D97-AF65-F5344CB8AC3E}">
        <p14:creationId xmlns:p14="http://schemas.microsoft.com/office/powerpoint/2010/main" val="12166645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44523A-AA75-4B0E-8710-14B510E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BOUNDARY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D26673-E117-4406-9B74-1DE4436E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人類掌方向與煞車；AI 提供槓桿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8D43BE-C842-4A2E-9814-C2357D3D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5486400" cy="416052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DF3F3"/>
          </a:solidFill>
          <a:ln xmlns:a="http://schemas.openxmlformats.org/drawingml/2006/main" w="15875">
            <a:solidFill>
              <a:srgbClr val="F9616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AE4457-B47A-4CB6-B616-022EF090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人類負責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3C358CF-6D7D-4C8E-9044-AD6DDF48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6771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ABCF85-EC0F-4D07-8381-31428295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14884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核心玩法與產品方向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B1CCB00-5204-4600-975C-DEA4923E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1635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BF4D387-2D28-4EC5-BD07-AFAA13AD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69748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審核選項、寫入定案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421CC39-6916-4030-9C3B-8AA8CEAF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364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FA48245-8D0F-4926-8704-A950682D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324612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是否啟用新功能／新服務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B60D82C-D3FD-4500-909A-9E418C31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1363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E6A8B8-5A56-4181-9A75-FFF2DE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379476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美術風格與素材採用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2C5B9A0-9574-4DAD-8535-790BA1F2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46227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EA8F8FA-78F9-4319-9FAE-06C03596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434340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敏感登入與憑證親手操作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3B12C11-41A5-4324-BFC0-F9A3F440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01091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BAF1B52-F074-4089-9259-4D42E5E5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489204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實際遊玩最終驗收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11865E8-2AA4-4AC7-B0E4-DCE3BF3D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71600"/>
            <a:ext cx="5486400" cy="416052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5875">
            <a:solidFill>
              <a:srgbClr val="2F3C7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BD854A-FDBE-49A8-BF6E-1894A95D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572768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AI 負責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2F69790-F911-4DE7-B303-65B610D2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26771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0DAF5B1-DB2B-4FBE-9DDF-5A713F7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214884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企劃 → 規格、資料結構、任務卡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4F45F0D-4EE0-4BC1-B425-F6BED28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81635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AA162DF-55CB-4815-A908-6DAF5A65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269748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提選項與風險，不代替拍板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E43D087-943B-4E6D-AAFC-14813EDF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364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36B6630-0160-4D19-8BD3-5925FD78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324612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依已確認文件實作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940281C-E2FE-40DD-B43A-A4E7CA3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91363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8CD66A8-A87B-49D8-97A5-8362C938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379476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產出符合合約的素材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B2726D8-364F-4345-9BCA-EEABC60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46227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276B4CA-B791-4D07-8D41-8A4F48A8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434340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自動測試、截圖、資料驗證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D4A2BD2-53E5-4122-885D-A97B8050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01091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ECED59C-B617-4855-B1DC-B6423241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489204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文件補登與紀錄整理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B5FFDDD-14D6-470D-B21C-806652AC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0"/>
            <a:ext cx="11183112" cy="6858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DD8B447-C202-4523-926C-48304D4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60720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一句話：AI 提供槓桿；人類握住方向盤，也握住煞車。</a:t>
            </a:r>
          </a:p>
        </p:txBody>
      </p:sp>
    </p:spTree>
    <p:extLst>
      <p:ext uri="{BB962C8B-B14F-4D97-AF65-F5344CB8AC3E}">
        <p14:creationId xmlns:p14="http://schemas.microsoft.com/office/powerpoint/2010/main" val="1431082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22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E4430F-3DBF-437A-A37F-513FB5FD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5760720"/>
            <a:ext cx="987552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3218A3-B108-4008-A092-0142B738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774" y="5080406"/>
            <a:ext cx="329184" cy="416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A65A1E-FFBE-47B5-B0BC-F66F996C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95" y="4882896"/>
            <a:ext cx="329184" cy="416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ADFB70-A0F4-45B3-8965-7D8DEE8C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762" y="4904842"/>
            <a:ext cx="329184" cy="416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8CD50D9-6C05-4C79-A426-90DAFF7D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837" y="5146243"/>
            <a:ext cx="307238" cy="395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382918-4755-41FA-AF79-187159D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最後交付的不是 Demo，而是可複製的生產線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13992CD-9BEC-4888-AF16-459D7522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24688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3C7E">
              <a:alpha val="80000"/>
            </a:srgbClr>
          </a:solidFill>
          <a:ln xmlns:a="http://schemas.openxmlformats.org/drawingml/2006/main" w="12700">
            <a:solidFill>
              <a:srgbClr val="4A569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95753E-7A5A-4AE4-828F-4345A5C1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9E795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5E1D892-A2CF-411A-B5BD-4BBD049A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任務卡全數出貨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D8D389A-594E-41DC-84E5-9F5E7D9E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691640"/>
            <a:ext cx="24688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3C7E">
              <a:alpha val="80000"/>
            </a:srgbClr>
          </a:solidFill>
          <a:ln xmlns:a="http://schemas.openxmlformats.org/drawingml/2006/main" w="12700">
            <a:solidFill>
              <a:srgbClr val="4A5694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E05786-A015-49C9-BBA3-F5EF4D47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82880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9E795"/>
                </a:solidFill>
                <a:latin typeface="Microsoft JhengHei"/>
                <a:ea typeface="Microsoft JhengHei"/>
                <a:cs typeface="Microsoft JhengHei"/>
              </a:rPr>
              <a:t>120+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77CF36-9039-4E0A-83D5-B6008F2B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9748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commits　每一步可追溯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E3C3453-9155-4050-94B4-710F99C8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24688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3C7E">
              <a:alpha val="80000"/>
            </a:srgbClr>
          </a:solidFill>
          <a:ln xmlns:a="http://schemas.openxmlformats.org/drawingml/2006/main" w="12700">
            <a:solidFill>
              <a:srgbClr val="4A5694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3A2152-6E7C-49C9-88FF-09DD53F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9E795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31849B-2298-4DC7-B4B0-AAC66254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9748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人類決策紀錄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C35449C-A82E-46A4-8639-5280C4ED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1640"/>
            <a:ext cx="24688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3C7E">
              <a:alpha val="80000"/>
            </a:srgbClr>
          </a:solidFill>
          <a:ln xmlns:a="http://schemas.openxmlformats.org/drawingml/2006/main" w="12700">
            <a:solidFill>
              <a:srgbClr val="4A5694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4307F26-200F-474C-A77E-EF1745A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2880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9E795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9A59741-1E55-4CBA-8DF2-5A81645D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9748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提問全數裁示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3E2CE95-B454-4953-8DAA-E4E8FFB2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94760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203200" indent="-203200">
              <a:buChar char="●"/>
            </a:pPr>
            <a:r>
              <a:rPr sz="16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完整 H5 遊戲上線：Google 登入＋Firebase 雲端排行榜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D25D43-3BE1-42D4-82D8-7F8F305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6168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203200" indent="-203200">
              <a:buChar char="●"/>
            </a:pPr>
            <a:r>
              <a:rPr sz="16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設計＋RD 兩人小團隊、下班時間、約三週完成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239D74-9C59-45C2-8992-0E9A5A6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28616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203200" indent="-203200">
              <a:buChar char="●"/>
            </a:pPr>
            <a:r>
              <a:rPr sz="16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全程可追溯、可查核——流程可複製到下一個專案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BFD86C0-E168-4149-9144-D2750C60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15000"/>
            <a:ext cx="6949440" cy="685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9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74B8C51-F9AD-403B-9964-224ED4FB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715000"/>
            <a:ext cx="6583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22B5C"/>
                </a:solidFill>
                <a:latin typeface="Microsoft JhengHei"/>
                <a:ea typeface="Microsoft JhengHei"/>
                <a:cs typeface="Microsoft JhengHei"/>
              </a:rPr>
              <a:t>先玩 30 秒：https://crushgamedemo-bloop.web.app</a:t>
            </a:r>
          </a:p>
        </p:txBody>
      </p:sp>
    </p:spTree>
    <p:extLst>
      <p:ext uri="{BB962C8B-B14F-4D97-AF65-F5344CB8AC3E}">
        <p14:creationId xmlns:p14="http://schemas.microsoft.com/office/powerpoint/2010/main" val="3597552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2026-07-15T17:25:33.3730000Z</dcterms:created>
  <dcterms:modified xsi:type="dcterms:W3CDTF">2026-07-15T17:25:33.3730000Z</dcterms:modified>
</coreProperties>
</file>