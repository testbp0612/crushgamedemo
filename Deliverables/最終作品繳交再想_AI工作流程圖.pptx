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86735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目標不只是完成一款遊戲，而是驗證「設計＋RD 小團隊＋多個 AI」能以工程化流程穩定出貨。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完整版含美術子管線（GPT Image-2→PS→Magnific→AE→Claude→Manifest）與 placeholder fallback 支線，見繳交文件第四章；簡報採 8 節點主幹。珊瑚紅節點＝人類把關點。首節點 ChatGPT 發想：token 與 Codex/Claude 分開計費，對話未入 repo（誠實標註）。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補足了兩人團隊（設計＋Web RD）沒有動畫師與 Technical Artist 的產能缺口。詳見繳交文件第九章。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764128" y="548640"/>
            <a:ext cx="4663440" cy="2952049"/>
          </a:xfrm>
          <a:prstGeom prst="roundRect">
            <a:avLst>
              <a:gd name="adj" fmla="val 4956"/>
            </a:avLst>
          </a:prstGeom>
          <a:solidFill>
            <a:srgbClr val="FFFFFF"/>
          </a:solidFill>
          <a:ln/>
          <a:effectLst>
            <a:outerShdw blurRad="177800" dist="50800" dir="5400000" algn="bl" rotWithShape="0">
              <a:srgbClr val="000000">
                <a:alpha val="35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pic>
        <p:nvPicPr>
          <p:cNvPr id="3" name="Image 0" descr="D:/Development/CrushGameDemo/Assets/final/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84168" y="795528"/>
            <a:ext cx="4023360" cy="24582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729289"/>
            <a:ext cx="121916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開發工作流程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4597969"/>
            <a:ext cx="12191695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altLang="zh-TW" sz="15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Meow</a:t>
            </a:r>
            <a:r>
              <a:rPr lang="zh-TW" altLang="en-US" sz="150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準快跑</a:t>
            </a:r>
            <a:r>
              <a:rPr lang="en-US" sz="150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</a:t>
            </a:r>
            <a:r>
              <a:rPr lang="en-US" sz="15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 一套可複製的 AI 遊戲開發生產線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31520" y="5119177"/>
            <a:ext cx="1072865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不是 prompt 技巧，而是一套有煞車、有證據、有驗收的 AI 生產線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0" y="614476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E97C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已上線：https://crushgamedemo-bloop.web.app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核心設計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先解決 AI 協作的風險：失憶與漂移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66928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問題　</a:t>
            </a:r>
            <a:r>
              <a:rPr lang="en-US" sz="15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只靠聊天上下文協作 AI → 遺忘、誤解、方向漂移　　</a:t>
            </a:r>
            <a:r>
              <a:rPr lang="en-US" sz="150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解法　</a:t>
            </a:r>
            <a:r>
              <a:rPr lang="en-US" sz="150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 文件是人類與所有 AI 工具的共同介面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66928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822960" y="2423160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35608" y="24048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AGENTS.md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41248" y="31089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行為鐵則（最高準則）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334256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4590288" y="242316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4590288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202936" y="24048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Docs/ ＋ Data/*.json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608576" y="31089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單一真實來源，禁止寫死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8101584" y="214884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8357616" y="2423160"/>
            <a:ext cx="457200" cy="457200"/>
          </a:xfrm>
          <a:prstGeom prst="ellipse">
            <a:avLst/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357616" y="2423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970264" y="240487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OPEN_QUESTIONS.md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375904" y="310896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不確定 → 停下提問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429768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822960" y="4572000"/>
            <a:ext cx="457200" cy="457200"/>
          </a:xfrm>
          <a:prstGeom prst="ellipse">
            <a:avLst/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822960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35608" y="4553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DECISIONS.md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841248" y="52578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人類拍板，append-only 不可竄改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334256" y="429768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Shape 24"/>
          <p:cNvSpPr/>
          <p:nvPr/>
        </p:nvSpPr>
        <p:spPr>
          <a:xfrm>
            <a:off x="4590288" y="4572000"/>
            <a:ext cx="457200" cy="457200"/>
          </a:xfrm>
          <a:prstGeom prst="ellipse">
            <a:avLst/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4590288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202936" y="4553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Codex/ 任務卡</a:t>
            </a:r>
            <a:endParaRPr lang="en-US" sz="1450" dirty="0"/>
          </a:p>
        </p:txBody>
      </p:sp>
      <p:sp>
        <p:nvSpPr>
          <p:cNvPr id="29" name="Text 27"/>
          <p:cNvSpPr/>
          <p:nvPr/>
        </p:nvSpPr>
        <p:spPr>
          <a:xfrm>
            <a:off x="4608576" y="52578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一次一張，邊界明確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8101584" y="4297680"/>
            <a:ext cx="3538728" cy="1874520"/>
          </a:xfrm>
          <a:prstGeom prst="roundRect">
            <a:avLst>
              <a:gd name="adj" fmla="val 585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Shape 29"/>
          <p:cNvSpPr/>
          <p:nvPr/>
        </p:nvSpPr>
        <p:spPr>
          <a:xfrm>
            <a:off x="8357616" y="4572000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2" name="Text 30"/>
          <p:cNvSpPr/>
          <p:nvPr/>
        </p:nvSpPr>
        <p:spPr>
          <a:xfrm>
            <a:off x="8357616" y="4572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8970264" y="4553712"/>
            <a:ext cx="24871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</a:t>
            </a:r>
            <a:endParaRPr lang="en-US" sz="1450" dirty="0"/>
          </a:p>
        </p:txBody>
      </p:sp>
      <p:sp>
        <p:nvSpPr>
          <p:cNvPr id="34" name="Text 32"/>
          <p:cNvSpPr/>
          <p:nvPr/>
        </p:nvSpPr>
        <p:spPr>
          <a:xfrm>
            <a:off x="8375904" y="5257800"/>
            <a:ext cx="299008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每步可追溯，不依賴 session 記憶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主流程圖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一張圖看懂：文件如何串起所有 AI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691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 × ChatGPT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對話發想玩法機制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→ 企劃與目標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3136392" y="224942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557016" y="1691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557016" y="1691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拆規格、資料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結構與任務卡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35040" y="224942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55664" y="1691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8B7BD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55664" y="1691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→ D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模糊就停：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人類拍板定案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33688" y="224942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354312" y="1691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354312" y="1691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單一真實來源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Docs 規格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＋ Data JSON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9354312" y="3977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2FA8A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354312" y="3977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平行執行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Codex 實作 ∥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 AI 產出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8933688" y="453542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55664" y="3977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2FA8A8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55664" y="3977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自動驗證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headless・截圖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H5 實跑・fallback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6035040" y="453542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557016" y="3977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557016" y="3977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人類驗收
</a:t>
            </a: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實際遊玩，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不過就退回修正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136392" y="453542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58368" y="3977640"/>
            <a:ext cx="2395728" cy="1371600"/>
          </a:xfrm>
          <a:prstGeom prst="roundRect">
            <a:avLst>
              <a:gd name="adj" fmla="val 8000"/>
            </a:avLst>
          </a:prstGeom>
          <a:solidFill>
            <a:srgbClr val="F9C95C"/>
          </a:solidFill>
          <a:ln/>
          <a:effectLst>
            <a:outerShdw blurRad="101600" dist="38100" dir="54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58368" y="3977640"/>
            <a:ext cx="2395728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上線
</a:t>
            </a:r>
            <a:r>
              <a:rPr lang="en-US" sz="1050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保存 →</a:t>
            </a:r>
            <a:endParaRPr lang="en-US" sz="150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Firebase 部署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0424160" y="3172968"/>
            <a:ext cx="256032" cy="502920"/>
          </a:xfrm>
          <a:prstGeom prst="down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58368" y="5605272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086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驗收不過 → 回饋修正；涉及方向變更則重新走 Q → D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7543800" y="5660136"/>
            <a:ext cx="219456" cy="219456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7818120" y="55869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人類把關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8595360" y="5660136"/>
            <a:ext cx="219456" cy="219456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8869680" y="5586984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Claude 規劃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9875520" y="5660136"/>
            <a:ext cx="219456" cy="219456"/>
          </a:xfrm>
          <a:prstGeom prst="ellipse">
            <a:avLst/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Text 31"/>
          <p:cNvSpPr/>
          <p:nvPr/>
        </p:nvSpPr>
        <p:spPr>
          <a:xfrm>
            <a:off x="10149840" y="5586984"/>
            <a:ext cx="640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執行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0789920" y="5660136"/>
            <a:ext cx="219456" cy="219456"/>
          </a:xfrm>
          <a:prstGeom prst="ellipse">
            <a:avLst/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5" name="Text 33"/>
          <p:cNvSpPr/>
          <p:nvPr/>
        </p:nvSpPr>
        <p:spPr>
          <a:xfrm>
            <a:off x="11064240" y="5586984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Q/D 治理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關鍵機制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第一道煞車：不確定就停，Q → D 才動工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645920"/>
            <a:ext cx="1975104" cy="11430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64592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遇到模糊或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範圍變更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2688336" y="208940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017520" y="1645920"/>
            <a:ext cx="1975104" cy="1143000"/>
          </a:xfrm>
          <a:prstGeom prst="roundRect">
            <a:avLst>
              <a:gd name="adj" fmla="val 8000"/>
            </a:avLst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017520" y="164592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 OPEN_QUESTIONS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附選項與影響分析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047488" y="208940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5376672" y="1645920"/>
            <a:ext cx="1975104" cy="1143000"/>
          </a:xfrm>
          <a:prstGeom prst="roundRect">
            <a:avLst>
              <a:gd name="adj" fmla="val 8000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5376672" y="164592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人類審核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拍板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06640" y="208940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735824" y="1645920"/>
            <a:ext cx="1975104" cy="1143000"/>
          </a:xfrm>
          <a:prstGeom prst="roundRect">
            <a:avLst>
              <a:gd name="adj" fmla="val 8000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735824" y="164592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寫入 DECISIONS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append-only 保存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9765792" y="2089404"/>
            <a:ext cx="27432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10094976" y="1645920"/>
            <a:ext cx="1975104" cy="1143000"/>
          </a:xfrm>
          <a:prstGeom prst="roundRect">
            <a:avLst>
              <a:gd name="adj" fmla="val 80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10094976" y="1645920"/>
            <a:ext cx="1975104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依定案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繼續執行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58368" y="3246120"/>
            <a:ext cx="5394960" cy="2971800"/>
          </a:xfrm>
          <a:prstGeom prst="roundRect">
            <a:avLst>
              <a:gd name="adj" fmla="val 3692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58368" y="3566160"/>
            <a:ext cx="5394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/ 12</a:t>
            </a:r>
            <a:endParaRPr lang="en-US" sz="5600" dirty="0"/>
          </a:p>
        </p:txBody>
      </p:sp>
      <p:sp>
        <p:nvSpPr>
          <p:cNvPr id="20" name="Text 18"/>
          <p:cNvSpPr/>
          <p:nvPr/>
        </p:nvSpPr>
        <p:spPr>
          <a:xfrm>
            <a:off x="914400" y="4892040"/>
            <a:ext cx="4892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 筆範圍與規格疑問全數升級為 Q、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經人類裁示後才動工——沒有一筆先斬後奏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14400" y="5870448"/>
            <a:ext cx="4892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AB3D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一般 7 筆＋美術 5 筆，均 ANSWERED，Docs/OPEN_QUESTIONS.md 可查核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27648" y="3246120"/>
            <a:ext cx="5257800" cy="2971800"/>
          </a:xfrm>
          <a:prstGeom prst="roundRect">
            <a:avLst>
              <a:gd name="adj" fmla="val 3692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629400" y="352044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實例：Google 登入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6629400" y="4114800"/>
            <a:ext cx="47548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需求超出 MVP 範圍 → AI 不擅自加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先提 Q-005：整理方案、風險與影響</a:t>
            </a:r>
            <a:endParaRPr lang="en-US" sz="1350" dirty="0"/>
          </a:p>
          <a:p>
            <a:pPr marL="177800" indent="-1778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人類定案 D-015 後，才拆任務卡實作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repo 證據實錄｜2026-07-16 實測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當場可驗：一條指令就能對帳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1E2233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31520" y="159105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Shape 4"/>
          <p:cNvSpPr/>
          <p:nvPr/>
        </p:nvSpPr>
        <p:spPr>
          <a:xfrm>
            <a:off x="950976" y="159105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1170432" y="159105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1435608" y="1517904"/>
            <a:ext cx="4480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Docs/OPEN_QUESTIONS.md — 12 筆全數 ANSWERED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68096" y="1847088"/>
            <a:ext cx="508406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"^### Q-" Docs/OPEN_QUESTIONS.md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Q-001：餘額不足時的處理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Q-002：是否需要音效 / 音樂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Q-003：缺少正式 UI mockup 圖檔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Q-ART-001：背景改為分區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Q-ART-002：新增 UI 素材類別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Q-ART-003：sprite sheet 規則修正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Q-004：正式接入音效/音樂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Q-005：線上身分與分數服務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Q-006：排行榜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Q-ART-004：怪物素材以動畫序列圖交付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Q-ART-005：背景素材改以 JPG 交付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Q-007：賭場化體驗改版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-c "狀態：ANSWERED" Docs/OPEN_QUESTIONS.md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F9C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63640" y="1463040"/>
            <a:ext cx="5349240" cy="4572000"/>
          </a:xfrm>
          <a:prstGeom prst="roundRect">
            <a:avLst>
              <a:gd name="adj" fmla="val 2000"/>
            </a:avLst>
          </a:prstGeom>
          <a:solidFill>
            <a:srgbClr val="1E2233"/>
          </a:solidFill>
          <a:ln/>
          <a:effectLst>
            <a:outerShdw blurRad="127000" dist="38100" dir="5400000" algn="bl" rotWithShape="0">
              <a:srgbClr val="000000">
                <a:alpha val="30000"/>
              </a:srgbClr>
            </a:outerShdw>
          </a:effectLst>
        </p:spPr>
        <p:txBody>
          <a:bodyPr/>
          <a:lstStyle/>
          <a:p>
            <a:endParaRPr lang="zh-TW" altLang="en-US"/>
          </a:p>
        </p:txBody>
      </p:sp>
      <p:sp>
        <p:nvSpPr>
          <p:cNvPr id="11" name="Shape 9"/>
          <p:cNvSpPr/>
          <p:nvPr/>
        </p:nvSpPr>
        <p:spPr>
          <a:xfrm>
            <a:off x="6428232" y="1591056"/>
            <a:ext cx="118872" cy="118872"/>
          </a:xfrm>
          <a:prstGeom prst="ellipse">
            <a:avLst/>
          </a:prstGeom>
          <a:solidFill>
            <a:srgbClr val="FF5F56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Shape 10"/>
          <p:cNvSpPr/>
          <p:nvPr/>
        </p:nvSpPr>
        <p:spPr>
          <a:xfrm>
            <a:off x="6647688" y="1591056"/>
            <a:ext cx="118872" cy="118872"/>
          </a:xfrm>
          <a:prstGeom prst="ellipse">
            <a:avLst/>
          </a:prstGeom>
          <a:solidFill>
            <a:srgbClr val="FFBD2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6867144" y="1591056"/>
            <a:ext cx="118872" cy="118872"/>
          </a:xfrm>
          <a:prstGeom prst="ellipse">
            <a:avLst/>
          </a:prstGeom>
          <a:solidFill>
            <a:srgbClr val="27C93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132320" y="1517904"/>
            <a:ext cx="4343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A80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一條證據鏈：Google 登入（Q → D → 卡 → 上線）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64808" y="1847088"/>
            <a:ext cx="4946904" cy="4069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-A1 "^### Q-005" Docs/OPEN_QUESTIONS.md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### Q-005：線上身分與分數服務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9C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狀態：ANSWERED → 見 DECISIONS D-015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grep "^## D-015" Docs/DECISIONS.md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9C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D-015：線上身分與分數服務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F9C95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（Firebase BaaS，回應 Q-005）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ls Codex/ | grep -E "^1[234]"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12_CLOUD_PROVISIONING.md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13_ONLINE_SCORE_INTEGRATION.md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dirty="0">
                <a:solidFill>
                  <a:srgbClr val="D8DE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14_ONLINE_LOGIN_UI.md</a:t>
            </a: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endParaRPr lang="en-US" sz="1000" dirty="0"/>
          </a:p>
          <a:p>
            <a:pPr marL="0" indent="0">
              <a:lnSpc>
                <a:spcPct val="118000"/>
              </a:lnSpc>
              <a:buNone/>
            </a:pPr>
            <a:r>
              <a:rPr lang="en-US" sz="1000" b="1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成品可 Google 登入，已上線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66928" y="6263640"/>
            <a:ext cx="11064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任一功能都能這樣往回追：提問 → 決策 → 任務卡 → 實作 → 上線。完整九格證據見附錄。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關鍵機制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第二道煞車：每張任務卡都要閉環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Shape 3"/>
          <p:cNvSpPr/>
          <p:nvPr/>
        </p:nvSpPr>
        <p:spPr>
          <a:xfrm>
            <a:off x="749808" y="171907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6" name="Text 4"/>
          <p:cNvSpPr/>
          <p:nvPr/>
        </p:nvSpPr>
        <p:spPr>
          <a:xfrm>
            <a:off x="74980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371600" y="14813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 AGENTS.md、規格與最新決策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560320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749808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74980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371600" y="256032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只做當前一張卡，確認「要做／不做／驗收」邊界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639312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749808" y="3877056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749808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371600" y="363931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數值文案一律讀 Data/*.json，不寫死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718304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Shape 15"/>
          <p:cNvSpPr/>
          <p:nvPr/>
        </p:nvSpPr>
        <p:spPr>
          <a:xfrm>
            <a:off x="749808" y="495604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Text 16"/>
          <p:cNvSpPr/>
          <p:nvPr/>
        </p:nvSpPr>
        <p:spPr>
          <a:xfrm>
            <a:off x="74980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371600" y="471830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不明確 → 寫 Q 等人類，不猜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190488" y="1481328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6373368" y="1719072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6373368" y="17190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995160" y="1481328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依卡修改程式、場景、資料或素材接點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190488" y="2560320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Shape 23"/>
          <p:cNvSpPr/>
          <p:nvPr/>
        </p:nvSpPr>
        <p:spPr>
          <a:xfrm>
            <a:off x="6373368" y="2798064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6" name="Text 24"/>
          <p:cNvSpPr/>
          <p:nvPr/>
        </p:nvSpPr>
        <p:spPr>
          <a:xfrm>
            <a:off x="6373368" y="27980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995160" y="2560320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自動驗證：語法、資料、桌面實跑、截圖、H5、fallback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190488" y="3639312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Shape 27"/>
          <p:cNvSpPr/>
          <p:nvPr/>
        </p:nvSpPr>
        <p:spPr>
          <a:xfrm>
            <a:off x="6373368" y="3877056"/>
            <a:ext cx="457200" cy="457200"/>
          </a:xfrm>
          <a:prstGeom prst="ellipse">
            <a:avLst/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0" name="Text 28"/>
          <p:cNvSpPr/>
          <p:nvPr/>
        </p:nvSpPr>
        <p:spPr>
          <a:xfrm>
            <a:off x="6373368" y="38770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995160" y="3639312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人類實際遊玩驗收，提修正或確認通過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190488" y="4718304"/>
            <a:ext cx="5440680" cy="932688"/>
          </a:xfrm>
          <a:prstGeom prst="roundRect">
            <a:avLst>
              <a:gd name="adj" fmla="val 8824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3" name="Shape 31"/>
          <p:cNvSpPr/>
          <p:nvPr/>
        </p:nvSpPr>
        <p:spPr>
          <a:xfrm>
            <a:off x="6373368" y="4956048"/>
            <a:ext cx="457200" cy="457200"/>
          </a:xfrm>
          <a:prstGeom prst="ellipse">
            <a:avLst/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4" name="Text 32"/>
          <p:cNvSpPr/>
          <p:nvPr/>
        </p:nvSpPr>
        <p:spPr>
          <a:xfrm>
            <a:off x="6373368" y="49560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995160" y="4718304"/>
            <a:ext cx="443484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Git 保存 → 下個 AI session 不依賴前次聊天記憶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566928" y="5897880"/>
            <a:ext cx="11064240" cy="621792"/>
          </a:xfrm>
          <a:prstGeom prst="roundRect">
            <a:avLst>
              <a:gd name="adj" fmla="val 11765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7" name="Text 35"/>
          <p:cNvSpPr/>
          <p:nvPr/>
        </p:nvSpPr>
        <p:spPr>
          <a:xfrm>
            <a:off x="566928" y="5897880"/>
            <a:ext cx="11064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實績：27 張卡片全數走完此閉環，各有 Git 紀錄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關鍵機制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小團隊不互等：工程與美術平行合流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60020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822960" y="17556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FA8A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工程線（Codex）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868680" y="2194560"/>
            <a:ext cx="2011680" cy="731520"/>
          </a:xfrm>
          <a:prstGeom prst="roundRect">
            <a:avLst>
              <a:gd name="adj" fmla="val 11250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86868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Placeholder 素材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971800" y="2432304"/>
            <a:ext cx="32004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Shape 7"/>
          <p:cNvSpPr/>
          <p:nvPr/>
        </p:nvSpPr>
        <p:spPr>
          <a:xfrm>
            <a:off x="3383280" y="2194560"/>
            <a:ext cx="2011680" cy="731520"/>
          </a:xfrm>
          <a:prstGeom prst="roundRect">
            <a:avLst>
              <a:gd name="adj" fmla="val 11250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3383280" y="219456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完整可玩閉環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3383280"/>
            <a:ext cx="5120640" cy="1554480"/>
          </a:xfrm>
          <a:prstGeom prst="roundRect">
            <a:avLst>
              <a:gd name="adj" fmla="val 7059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2" name="Text 10"/>
          <p:cNvSpPr/>
          <p:nvPr/>
        </p:nvSpPr>
        <p:spPr>
          <a:xfrm>
            <a:off x="822960" y="353872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7BD8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美術線（GPT Image-2 → PS → Magnific → AE → Claude）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68680" y="3977640"/>
            <a:ext cx="2011680" cy="731520"/>
          </a:xfrm>
          <a:prstGeom prst="roundRect">
            <a:avLst>
              <a:gd name="adj" fmla="val 11250"/>
            </a:avLst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868680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動畫資產管線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971800" y="4215384"/>
            <a:ext cx="32004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Shape 14"/>
          <p:cNvSpPr/>
          <p:nvPr/>
        </p:nvSpPr>
        <p:spPr>
          <a:xfrm>
            <a:off x="3383280" y="3977640"/>
            <a:ext cx="2011680" cy="731520"/>
          </a:xfrm>
          <a:prstGeom prst="roundRect">
            <a:avLst>
              <a:gd name="adj" fmla="val 11250"/>
            </a:avLst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3383280" y="397764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Manifest 規格檢查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806440" y="2286000"/>
            <a:ext cx="502920" cy="502920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Shape 17"/>
          <p:cNvSpPr/>
          <p:nvPr/>
        </p:nvSpPr>
        <p:spPr>
          <a:xfrm>
            <a:off x="5806440" y="4069080"/>
            <a:ext cx="502920" cy="502920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0" name="Shape 18"/>
          <p:cNvSpPr/>
          <p:nvPr/>
        </p:nvSpPr>
        <p:spPr>
          <a:xfrm>
            <a:off x="6492240" y="2103120"/>
            <a:ext cx="2286000" cy="2651760"/>
          </a:xfrm>
          <a:prstGeom prst="roundRect">
            <a:avLst>
              <a:gd name="adj" fmla="val 4800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6492240" y="210312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Assets/final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同檔名放入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887968" y="3172968"/>
            <a:ext cx="365760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Shape 21"/>
          <p:cNvSpPr/>
          <p:nvPr/>
        </p:nvSpPr>
        <p:spPr>
          <a:xfrm>
            <a:off x="9372600" y="2103120"/>
            <a:ext cx="2240280" cy="2651760"/>
          </a:xfrm>
          <a:prstGeom prst="roundRect">
            <a:avLst>
              <a:gd name="adj" fmla="val 4898"/>
            </a:avLst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Text 22"/>
          <p:cNvSpPr/>
          <p:nvPr/>
        </p:nvSpPr>
        <p:spPr>
          <a:xfrm>
            <a:off x="9372600" y="2103120"/>
            <a:ext cx="224028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遊戲自動換裝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（缺檔 fallback</a:t>
            </a:r>
            <a:endParaRPr lang="en-US" sz="1350" dirty="0"/>
          </a:p>
          <a:p>
            <a:pPr marL="0" indent="0" algn="ctr">
              <a:buNone/>
            </a:pPr>
            <a:r>
              <a:rPr lang="en-US" sz="135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不崩潰）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566928" y="5394960"/>
            <a:ext cx="110642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程式只認 final/ 與 placeholder 兩個入口，正式圖到位即自動生效</a:t>
            </a:r>
            <a:endParaRPr lang="en-US" sz="13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美術規格衝突不硬改：走 Q-ART 提案 → 人類裁示 → Contract 升版（v1.0 → v1.5）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美術工作流程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圖不是成品：8 步變成遊戲資產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155448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658368" y="155448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 風格版・世界觀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136392" y="195224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Shape 5"/>
          <p:cNvSpPr/>
          <p:nvPr/>
        </p:nvSpPr>
        <p:spPr>
          <a:xfrm>
            <a:off x="3557016" y="155448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8" name="Text 6"/>
          <p:cNvSpPr/>
          <p:nvPr/>
        </p:nvSpPr>
        <p:spPr>
          <a:xfrm>
            <a:off x="3557016" y="155448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 Style Bible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Prompt 規格模板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035040" y="195224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Shape 8"/>
          <p:cNvSpPr/>
          <p:nvPr/>
        </p:nvSpPr>
        <p:spPr>
          <a:xfrm>
            <a:off x="6455664" y="155448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55664" y="155448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 GPT Image-2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靜態素材生成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33688" y="1952244"/>
            <a:ext cx="347472" cy="256032"/>
          </a:xfrm>
          <a:prstGeom prst="righ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Shape 11"/>
          <p:cNvSpPr/>
          <p:nvPr/>
        </p:nvSpPr>
        <p:spPr>
          <a:xfrm>
            <a:off x="9354312" y="155448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8A8FA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4" name="Text 12"/>
          <p:cNvSpPr/>
          <p:nvPr/>
        </p:nvSpPr>
        <p:spPr>
          <a:xfrm>
            <a:off x="9354312" y="155448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 Photoshop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標準化（非 AI）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354312" y="306324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8B7BD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6" name="Text 14"/>
          <p:cNvSpPr/>
          <p:nvPr/>
        </p:nvSpPr>
        <p:spPr>
          <a:xfrm>
            <a:off x="9354312" y="306324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5 Magnific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角色動畫生成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8933688" y="346100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8" name="Shape 16"/>
          <p:cNvSpPr/>
          <p:nvPr/>
        </p:nvSpPr>
        <p:spPr>
          <a:xfrm>
            <a:off x="6455664" y="306324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8A8FA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55664" y="306324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6 AE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序列圖（非 AI）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35040" y="346100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Shape 19"/>
          <p:cNvSpPr/>
          <p:nvPr/>
        </p:nvSpPr>
        <p:spPr>
          <a:xfrm>
            <a:off x="3557016" y="306324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2FA8A8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2" name="Text 20"/>
          <p:cNvSpPr/>
          <p:nvPr/>
        </p:nvSpPr>
        <p:spPr>
          <a:xfrm>
            <a:off x="3557016" y="306324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7 Claude
</a:t>
            </a:r>
            <a:r>
              <a:rPr lang="en-US" sz="10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Sprite Sheet＋JSON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36392" y="3461004"/>
            <a:ext cx="347472" cy="256032"/>
          </a:xfrm>
          <a:prstGeom prst="left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4" name="Shape 22"/>
          <p:cNvSpPr/>
          <p:nvPr/>
        </p:nvSpPr>
        <p:spPr>
          <a:xfrm>
            <a:off x="658368" y="3063240"/>
            <a:ext cx="2395728" cy="1051560"/>
          </a:xfrm>
          <a:prstGeom prst="roundRect">
            <a:avLst>
              <a:gd name="adj" fmla="val 8696"/>
            </a:avLst>
          </a:prstGeom>
          <a:solidFill>
            <a:srgbClr val="F9C95C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658368" y="3063240"/>
            <a:ext cx="239572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8 GitHub
</a:t>
            </a:r>
            <a:r>
              <a:rPr lang="en-US" sz="1000" dirty="0">
                <a:solidFill>
                  <a:srgbClr val="222B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資產版本管理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10424160" y="2697480"/>
            <a:ext cx="256032" cy="365760"/>
          </a:xfrm>
          <a:prstGeom prst="downArrow">
            <a:avLst/>
          </a:prstGeom>
          <a:solidFill>
            <a:srgbClr val="C9CDE3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Shape 25"/>
          <p:cNvSpPr/>
          <p:nvPr/>
        </p:nvSpPr>
        <p:spPr>
          <a:xfrm>
            <a:off x="566928" y="4526280"/>
            <a:ext cx="11064240" cy="1828800"/>
          </a:xfrm>
          <a:prstGeom prst="roundRect">
            <a:avLst>
              <a:gd name="adj" fmla="val 6000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8" name="Text 26"/>
          <p:cNvSpPr/>
          <p:nvPr/>
        </p:nvSpPr>
        <p:spPr>
          <a:xfrm>
            <a:off x="868680" y="4800600"/>
            <a:ext cx="10515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不讓 AI 直接生 Sprite Sheet（逐幀不一致、比例漂移）——動畫影片轉序列圖更穩定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設計擔任 AI Art Director：世界觀、一致性、動畫品質由人判斷</a:t>
            </a:r>
            <a:endParaRPr lang="en-US" sz="1300" dirty="0"/>
          </a:p>
          <a:p>
            <a:pPr marL="177800" indent="-1778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價值：AI 放大美術產能，並將 AI 產物轉換成 RD 可直接整合的遊戲資產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2926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責任界線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66928" y="566928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2F3C7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人類掌方向與煞車；AI 提供槓桿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41732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F96167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5" name="Text 3"/>
          <p:cNvSpPr/>
          <p:nvPr/>
        </p:nvSpPr>
        <p:spPr>
          <a:xfrm>
            <a:off x="566928" y="141732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人類負責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90488" y="1417320"/>
            <a:ext cx="5440680" cy="566928"/>
          </a:xfrm>
          <a:prstGeom prst="roundRect">
            <a:avLst>
              <a:gd name="adj" fmla="val 12903"/>
            </a:avLst>
          </a:prstGeom>
          <a:solidFill>
            <a:srgbClr val="2F3C7E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6190488" y="1417320"/>
            <a:ext cx="5440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負責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6928" y="2148840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9" name="Text 7"/>
          <p:cNvSpPr/>
          <p:nvPr/>
        </p:nvSpPr>
        <p:spPr>
          <a:xfrm>
            <a:off x="841248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核心玩法與產品方向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90488" y="2148840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1" name="Text 9"/>
          <p:cNvSpPr/>
          <p:nvPr/>
        </p:nvSpPr>
        <p:spPr>
          <a:xfrm>
            <a:off x="6464808" y="21488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企劃 → 規格、資料結構、任務卡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66928" y="2807208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41248" y="2807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審核選項、寫入定案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90488" y="2807208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5" name="Text 13"/>
          <p:cNvSpPr/>
          <p:nvPr/>
        </p:nvSpPr>
        <p:spPr>
          <a:xfrm>
            <a:off x="6464808" y="2807208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提選項與風險，不代替拍板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66928" y="3465576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7" name="Text 15"/>
          <p:cNvSpPr/>
          <p:nvPr/>
        </p:nvSpPr>
        <p:spPr>
          <a:xfrm>
            <a:off x="841248" y="34655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是否啟用新功能／新服務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190488" y="3465576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9" name="Text 17"/>
          <p:cNvSpPr/>
          <p:nvPr/>
        </p:nvSpPr>
        <p:spPr>
          <a:xfrm>
            <a:off x="6464808" y="3465576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依已確認文件實作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66928" y="4123944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1" name="Text 19"/>
          <p:cNvSpPr/>
          <p:nvPr/>
        </p:nvSpPr>
        <p:spPr>
          <a:xfrm>
            <a:off x="841248" y="41239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美術風格與素材採用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190488" y="4123944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3" name="Text 21"/>
          <p:cNvSpPr/>
          <p:nvPr/>
        </p:nvSpPr>
        <p:spPr>
          <a:xfrm>
            <a:off x="6464808" y="4123944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產出符合合約的素材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66928" y="4782312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5" name="Text 23"/>
          <p:cNvSpPr/>
          <p:nvPr/>
        </p:nvSpPr>
        <p:spPr>
          <a:xfrm>
            <a:off x="841248" y="4782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敏感登入與憑證親手操作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190488" y="4782312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7" name="Text 25"/>
          <p:cNvSpPr/>
          <p:nvPr/>
        </p:nvSpPr>
        <p:spPr>
          <a:xfrm>
            <a:off x="6464808" y="4782312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自動測試、截圖、資料驗證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566928" y="5440680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DEFE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29" name="Text 27"/>
          <p:cNvSpPr/>
          <p:nvPr/>
        </p:nvSpPr>
        <p:spPr>
          <a:xfrm>
            <a:off x="841248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實際遊玩最終驗收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90488" y="5440680"/>
            <a:ext cx="5440680" cy="548640"/>
          </a:xfrm>
          <a:prstGeom prst="roundRect">
            <a:avLst>
              <a:gd name="adj" fmla="val 11667"/>
            </a:avLst>
          </a:prstGeom>
          <a:solidFill>
            <a:srgbClr val="F4F5FB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31" name="Text 29"/>
          <p:cNvSpPr/>
          <p:nvPr/>
        </p:nvSpPr>
        <p:spPr>
          <a:xfrm>
            <a:off x="6464808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A2F4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文件補登與紀錄整理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0" y="621792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96167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提供槓桿；人類握住方向盤，也握住煞車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2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40080"/>
            <a:ext cx="1219169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最後交付的不是 Demo，而是可複製的生產線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952348" y="1600200"/>
            <a:ext cx="2331720" cy="1645920"/>
          </a:xfrm>
          <a:prstGeom prst="roundRect">
            <a:avLst>
              <a:gd name="adj" fmla="val 6667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4" name="Text 2"/>
          <p:cNvSpPr/>
          <p:nvPr/>
        </p:nvSpPr>
        <p:spPr>
          <a:xfrm>
            <a:off x="952348" y="17556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27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108950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任務卡 → H5 上線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04108" y="1600200"/>
            <a:ext cx="2331720" cy="1645920"/>
          </a:xfrm>
          <a:prstGeom prst="roundRect">
            <a:avLst>
              <a:gd name="adj" fmla="val 6667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7" name="Text 5"/>
          <p:cNvSpPr/>
          <p:nvPr/>
        </p:nvSpPr>
        <p:spPr>
          <a:xfrm>
            <a:off x="3604108" y="17556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120+</a:t>
            </a:r>
            <a:endParaRPr lang="en-US" sz="4400" dirty="0"/>
          </a:p>
        </p:txBody>
      </p:sp>
      <p:sp>
        <p:nvSpPr>
          <p:cNvPr id="8" name="Text 6"/>
          <p:cNvSpPr/>
          <p:nvPr/>
        </p:nvSpPr>
        <p:spPr>
          <a:xfrm>
            <a:off x="374126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commits 可追溯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5868" y="1600200"/>
            <a:ext cx="2331720" cy="1645920"/>
          </a:xfrm>
          <a:prstGeom prst="roundRect">
            <a:avLst>
              <a:gd name="adj" fmla="val 6667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0" name="Text 8"/>
          <p:cNvSpPr/>
          <p:nvPr/>
        </p:nvSpPr>
        <p:spPr>
          <a:xfrm>
            <a:off x="6255868" y="17556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25</a:t>
            </a:r>
            <a:endParaRPr lang="en-US" sz="4400" dirty="0"/>
          </a:p>
        </p:txBody>
      </p:sp>
      <p:sp>
        <p:nvSpPr>
          <p:cNvPr id="11" name="Text 9"/>
          <p:cNvSpPr/>
          <p:nvPr/>
        </p:nvSpPr>
        <p:spPr>
          <a:xfrm>
            <a:off x="639302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人類決策紀錄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907628" y="1600200"/>
            <a:ext cx="2331720" cy="1645920"/>
          </a:xfrm>
          <a:prstGeom prst="roundRect">
            <a:avLst>
              <a:gd name="adj" fmla="val 6667"/>
            </a:avLst>
          </a:prstGeom>
          <a:solidFill>
            <a:srgbClr val="3A467F"/>
          </a:solidFill>
          <a:ln/>
        </p:spPr>
        <p:txBody>
          <a:bodyPr/>
          <a:lstStyle/>
          <a:p>
            <a:endParaRPr lang="zh-TW" altLang="en-US"/>
          </a:p>
        </p:txBody>
      </p:sp>
      <p:sp>
        <p:nvSpPr>
          <p:cNvPr id="13" name="Text 11"/>
          <p:cNvSpPr/>
          <p:nvPr/>
        </p:nvSpPr>
        <p:spPr>
          <a:xfrm>
            <a:off x="8907628" y="1755648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9044788" y="2651760"/>
            <a:ext cx="2057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DDE2F5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 全數經裁示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0" y="370332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設計＋RD 兩人小團隊・下班時間・約三週 → 完整 H5 遊戲上線（Google 登入＋Firebase 雲端排行榜）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0" y="4251960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7CDE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全程可追溯、可查核，流程可複製到下一個專案</a:t>
            </a:r>
            <a:endParaRPr lang="en-US" sz="1400" dirty="0"/>
          </a:p>
        </p:txBody>
      </p:sp>
      <p:pic>
        <p:nvPicPr>
          <p:cNvPr id="17" name="Image 0" descr="D:/Development/CrushGameDemo/Assets/final/hu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4328" y="4754880"/>
            <a:ext cx="1463040" cy="146304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0" y="6327648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9C95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先玩 30 秒：https://crushgamedemo-bloop.web.app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885</Words>
  <Application>Microsoft Office PowerPoint</Application>
  <PresentationFormat>寬螢幕</PresentationFormat>
  <Paragraphs>192</Paragraphs>
  <Slides>10</Slides>
  <Notes>10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4" baseType="lpstr">
      <vt:lpstr>Microsoft JhengHei</vt:lpstr>
      <vt:lpstr>Arial</vt:lpstr>
      <vt:lpstr>Courier New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黃柏鈞-軟體開發處-網銀總部</cp:lastModifiedBy>
  <cp:revision>2</cp:revision>
  <dcterms:created xsi:type="dcterms:W3CDTF">2026-07-16T09:26:30Z</dcterms:created>
  <dcterms:modified xsi:type="dcterms:W3CDTF">2026-07-16T09:53:50Z</dcterms:modified>
</cp:coreProperties>
</file>