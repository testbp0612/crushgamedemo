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562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設計＋RD 兩人小團隊利用下班時間開發（2026-06-27 → 2026-07-16，約三週），全程以 repo 文件為人類與多個 AI 工具的共同介面。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發想對話保存在 ChatGPT 端、未入 repo，屬參賽者補登事實（誠實標註）。一句話：把便宜的發散留在對話型 AI，把昂貴的收斂交給生產線。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代表證據 Planning/01、Docs/DECISIONS.md、Firebase/README.md、任務卡 12/13/17。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代表證據 AGENTS.md、Codex/01–27、Codex/VALIDATION_CHECKLIST.md。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 從 v1.0 升到 v1.5，每次升版都有 Q-ART 提案與人類裁示紀錄。詳細八階段見繳交文件第九章。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8408" y="548640"/>
            <a:ext cx="4754880" cy="3007919"/>
          </a:xfrm>
          <a:prstGeom prst="roundRect">
            <a:avLst>
              <a:gd name="adj" fmla="val 4864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D:/Development/CrushGameDemo/Assets/final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448" y="795528"/>
            <a:ext cx="4114800" cy="25141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785159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工具使用清單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4653839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500" dirty="0">
                <a:solidFill>
                  <a:srgbClr val="C7CD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Meow</a:t>
            </a:r>
            <a:r>
              <a:rPr lang="zh-TW" altLang="en-US" sz="1500" dirty="0">
                <a:solidFill>
                  <a:srgbClr val="C7CD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準快跑</a:t>
            </a:r>
            <a:r>
              <a:rPr lang="en-US" sz="1500" dirty="0">
                <a:solidFill>
                  <a:srgbClr val="C7CD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— 27 張任務卡跑完的 Godot 4.6 H5 成品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5175047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9C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 AI 幫我做遊戲，而是把 AI 變成可稽核、可複製的生產線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0" y="614476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9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已上線：https://crushgamedemo-bloop.web.app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工具總覽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工具不是主角——每個 AI 只做一件事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68096" y="1444752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68096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353312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ChatGPT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43400" y="135331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對話介面（token 分開計費）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0" y="135331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人類發想階段：玩法討論、機制取捨、企劃收斂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066544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768096" y="2157984"/>
            <a:ext cx="420624" cy="420624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68096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06654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/ Claude Code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43400" y="2066544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Sonnet 4.6 / 5.0 ・ Fable 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0" y="2066544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規劃、規格、治理文件、任務卡；Sprite Sheet＋JSON 資產工程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2779776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768096" y="2871216"/>
            <a:ext cx="420624" cy="420624"/>
          </a:xfrm>
          <a:prstGeom prst="ellipse">
            <a:avLst/>
          </a:prstGeom>
          <a:solidFill>
            <a:srgbClr val="2FA8A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68096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77977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 Codex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343400" y="27797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GPT-5.5 ・ GPT-5.6-SOL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0" y="277977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Godot 實作、測試、驗收協作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3493008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768096" y="3584448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768096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3493008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Image-2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343400" y="3493008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美術靜態生成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32320" y="3493008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靜態美術素材生成、風格探索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206240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768096" y="4297680"/>
            <a:ext cx="420624" cy="420624"/>
          </a:xfrm>
          <a:prstGeom prst="ellipse">
            <a:avLst/>
          </a:prstGeom>
          <a:solidFill>
            <a:srgbClr val="8B7BD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768096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4206240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Magnific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343400" y="4206240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美術動畫生成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32320" y="4206240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角色動畫生成（Idle / Attack / Dead）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4919472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768096" y="5010912"/>
            <a:ext cx="420624" cy="420624"/>
          </a:xfrm>
          <a:prstGeom prst="ellipse">
            <a:avLst/>
          </a:prstGeom>
          <a:solidFill>
            <a:srgbClr val="8A8FA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768096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71600" y="4919472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agent-sprite-forge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343400" y="491947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開源 Codex skill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32320" y="491947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貼紙、icon、暫代素材生成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" y="5632704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768096" y="5724144"/>
            <a:ext cx="420624" cy="420624"/>
          </a:xfrm>
          <a:prstGeom prst="ellipse">
            <a:avLst/>
          </a:prstGeom>
          <a:solidFill>
            <a:srgbClr val="F9C9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768096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371600" y="563270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Suno AI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4343400" y="5632704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音樂生成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132320" y="5632704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BGM 生成（SFX 不使用 AI）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6928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分工原則　</a:t>
            </a:r>
            <a:r>
              <a:rPr lang="en-US" sz="13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每個工具只做擅長的事，交接靠 repo 文件，不靠聊天記憶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 1｜發想階段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ChatGPT——進生產線之前，先把想法聊清楚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7132320" cy="4892040"/>
          </a:xfrm>
          <a:prstGeom prst="roundRect">
            <a:avLst>
              <a:gd name="adj" fmla="val 2243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68680" y="1810512"/>
            <a:ext cx="6583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定位：人類發想階段的對話型 AI——不進 repo、不寫規格、不碰程式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用途：核心循環、下注／過關機制、玩法取捨的來回討論與收斂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效率：進 Claude 規劃時輸入已收斂，規格拆解更快、來回更少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誠實標註：對話保存在 ChatGPT 端、未入 </a:t>
            </a:r>
            <a:r>
              <a:rPr lang="en-US" sz="1350" dirty="0" err="1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repo，屬補登事實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41248" y="512064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24128" y="512064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人類把關：發想結論由人類篩選定案，才成為企劃輸入（Planning/00_GAME_PITCH.md）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55280" y="1481328"/>
            <a:ext cx="3657600" cy="4892040"/>
          </a:xfrm>
          <a:prstGeom prst="roundRect">
            <a:avLst>
              <a:gd name="adj" fmla="val 3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247888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策略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9C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分開計費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38160" y="3154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E2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ChatGPT ✕ Codex／Claude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DE2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各自獨立的 token 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47888" y="4069080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3A467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發想的大量來回全放對話型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 零開發 token 成本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38160" y="5120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9C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把「便宜的發散」留在對話型 AI，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9C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把「昂貴的收斂」交給生產線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 2｜規劃與治理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Claude／Claude Code——把模糊需求變成規格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7132320" cy="4892040"/>
          </a:xfrm>
          <a:prstGeom prst="roundRect">
            <a:avLst>
              <a:gd name="adj" fmla="val 2243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68680" y="1810512"/>
            <a:ext cx="6583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模型：Sonnet 4.6 → Sonnet 5.0 → Fable 5（依開發期間陸續使用）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將企劃轉為 Docs/ 規格與 Data/*.json（數值文案單一真實來源，禁止寫死）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 OPEN_QUESTIONS 選項 → 人類拍板 → 寫入 DECISIONS（append-only）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 27 張 Codex 任務卡；透過 Firebase CLI＋瀏覽器協助雲端佈建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41248" y="512064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24128" y="512064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人類把關：玩法、範圍、雲端權限、登入憑證均由人類決定與親手操作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55280" y="1481328"/>
            <a:ext cx="3657600" cy="4892040"/>
          </a:xfrm>
          <a:prstGeom prst="roundRect">
            <a:avLst>
              <a:gd name="adj" fmla="val 3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247888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主要產出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47888" y="224028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3A467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8430768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 系統規格 01–08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47888" y="2916936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3A467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430768" y="29169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Data/*.json ×7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47888" y="3593592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3A467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430768" y="35935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OPEN_QUESTIONS.md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47888" y="4270248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3A467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8430768" y="4270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DECISIONS.md（25 筆）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47888" y="4946904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3A467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430768" y="49469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Codex/ 任務卡 ×27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47888" y="562356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3A467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8430768" y="5623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Firebase/ 佈建紀錄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 3｜Godot 實作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 Codex——把任務卡變成可玩的 H5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7132320" cy="4892040"/>
          </a:xfrm>
          <a:prstGeom prst="roundRect">
            <a:avLst>
              <a:gd name="adj" fmla="val 2243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68680" y="1810512"/>
            <a:ext cx="6583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模型：GPT-5.5、GPT-5.6-SOL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產出：專案骨架、狀態機、下注／戰鬥循環、UI、動畫、特效、音訊服務、排行榜、H5 相容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工作紀律：開工先讀 AGENTS.md 與當前任務卡；一次一張卡；不確定就停下寫 Q，不猜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人類把關前的最後一關：自動驗收全數通過才交人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41248" y="512064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24128" y="512064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人類把關：實際遊玩檢視畫面、手感、文案，完成最終驗收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55280" y="1481328"/>
            <a:ext cx="3657600" cy="4892040"/>
          </a:xfrm>
          <a:prstGeom prst="roundRect">
            <a:avLst>
              <a:gd name="adj" fmla="val 3000"/>
            </a:avLst>
          </a:prstGeom>
          <a:solidFill>
            <a:srgbClr val="2FA8A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247888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自動驗收清單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47888" y="224028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1F8A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8430768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Godot 桌面實跑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47888" y="2916936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1F8A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430768" y="29169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headless 測試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47888" y="3593592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1F8A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430768" y="35935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JSON 資料驗證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47888" y="4270248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1F8A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8430768" y="4270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狀態驅動截圖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47888" y="4946904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1F8A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430768" y="49469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H5 匯出＋瀏覽器實跑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47888" y="562356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1F8A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8430768" y="5623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fallback 破壞性測試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 4＋5｜美術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美術管線——把 AI 圖變成可直接整合的遊戲資產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1956816" cy="1234440"/>
          </a:xfrm>
          <a:prstGeom prst="roundRect">
            <a:avLst>
              <a:gd name="adj" fmla="val 7407"/>
            </a:avLst>
          </a:prstGeom>
          <a:solidFill>
            <a:srgbClr val="2F3C7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58368" y="1645920"/>
            <a:ext cx="1956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Image-2
</a:t>
            </a: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靜態生成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風格探索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70048" y="2135124"/>
            <a:ext cx="274320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2999232" y="1645920"/>
            <a:ext cx="1956816" cy="1234440"/>
          </a:xfrm>
          <a:prstGeom prst="roundRect">
            <a:avLst>
              <a:gd name="adj" fmla="val 7407"/>
            </a:avLst>
          </a:prstGeom>
          <a:solidFill>
            <a:srgbClr val="8A8FA3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999232" y="1645920"/>
            <a:ext cx="1956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Photoshop
</a:t>
            </a: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標準化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（非 AI）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10912" y="2135124"/>
            <a:ext cx="274320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5340096" y="1645920"/>
            <a:ext cx="1956816" cy="1234440"/>
          </a:xfrm>
          <a:prstGeom prst="roundRect">
            <a:avLst>
              <a:gd name="adj" fmla="val 7407"/>
            </a:avLst>
          </a:prstGeom>
          <a:solidFill>
            <a:srgbClr val="8B7BD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340096" y="1645920"/>
            <a:ext cx="1956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Magnific
</a:t>
            </a: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角色動畫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Idle/Attack/Dead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51776" y="2135124"/>
            <a:ext cx="274320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7680960" y="1645920"/>
            <a:ext cx="1956816" cy="1234440"/>
          </a:xfrm>
          <a:prstGeom prst="roundRect">
            <a:avLst>
              <a:gd name="adj" fmla="val 7407"/>
            </a:avLst>
          </a:prstGeom>
          <a:solidFill>
            <a:srgbClr val="8A8FA3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7680960" y="1645920"/>
            <a:ext cx="1956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AE
</a:t>
            </a: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動態去背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序列圖（非 AI）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92640" y="2135124"/>
            <a:ext cx="274320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10021824" y="1645920"/>
            <a:ext cx="1956816" cy="1234440"/>
          </a:xfrm>
          <a:prstGeom prst="roundRect">
            <a:avLst>
              <a:gd name="adj" fmla="val 7407"/>
            </a:avLst>
          </a:prstGeom>
          <a:solidFill>
            <a:srgbClr val="2FA8A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10021824" y="1645920"/>
            <a:ext cx="1956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
</a:t>
            </a: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Sprite Sheet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＋JSON 工程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4612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68680" y="3520440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不讓 AI 直接生 Sprite Sheet：逐幀角色不一致、比例漂移——改用動畫影片轉序列圖，更穩定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agent-sprite-forge（開源 skill）：早期驗證可行性＋UI 貼紙、icon 與暫代圖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產出照 Art Contract（v1.5 locked）命名入庫 Assets/final/，遊戲直接引用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55778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841248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人類把關：設計擔任 AI Art Director，把關風格一致性；規格衝突走 Q-ART → 人類裁示 → Contract 升版（v1.0 → v1.5）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 6｜音訊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Suno AI——讓 AI 音樂進得了正式版本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6949440" cy="1234440"/>
          </a:xfrm>
          <a:prstGeom prst="roundRect">
            <a:avLst>
              <a:gd name="adj" fmla="val 7407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77240" y="1810512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9C9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BGM ＝ Suno AI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155448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主遊戲與虎爺事件 BGM 均由 Suno 生成，依 Data/audio.json 資料驅動接入播放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971800"/>
            <a:ext cx="6949440" cy="1234440"/>
          </a:xfrm>
          <a:prstGeom prst="roundRect">
            <a:avLst>
              <a:gd name="adj" fmla="val 7407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777240" y="3227832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777240" y="32278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SFX ＝ 非 AI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91840" y="29718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取自免費音效素材庫——誠實區分 AI 與非 AI 產出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389120"/>
            <a:ext cx="6949440" cy="1234440"/>
          </a:xfrm>
          <a:prstGeom prst="roundRect">
            <a:avLst>
              <a:gd name="adj" fmla="val 7407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777240" y="4645152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2FA8A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777240" y="46451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缺檔不崩潰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438912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任何音檔缺失自動 fallback 靜音，遊戲照常進行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89788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841248" y="5897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人類把關：曲風方向與採用與否由參賽者試聽決定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18120" y="1554480"/>
            <a:ext cx="3794760" cy="4910328"/>
          </a:xfrm>
          <a:prstGeom prst="roundRect">
            <a:avLst>
              <a:gd name="adj" fmla="val 2892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9" name="Image 0" descr="D:/Development/CrushGameDemo/Assets/final/hu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920240"/>
            <a:ext cx="1874520" cy="18745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138160" y="40233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C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虎爺事件：專屬 BGM 隨事件切換（D-024）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138160" y="48920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Assets/final/audio/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D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bgm_main.ogg ・ bgm_huye.ogg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D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＋ SFX 事件音效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量化成果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不是報告：每個數字都有 repo 證據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58368" y="1664208"/>
            <a:ext cx="3355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~3 週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2026-06-27 → 07-16</a:t>
            </a:r>
          </a:p>
          <a:p>
            <a:pPr marL="0" indent="0" algn="ctr">
              <a:buNone/>
            </a:pPr>
            <a:r>
              <a:rPr lang="en-US" sz="11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（兩人小團隊・下班時間）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4256" y="1481328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425696" y="1664208"/>
            <a:ext cx="3355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120+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90288" y="2651760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commits，每一步可追溯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1584" y="1481328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8193024" y="1664208"/>
            <a:ext cx="3355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FA8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357616" y="2651760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任務卡全數完成且有 Git 紀錄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675888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58368" y="3858768"/>
            <a:ext cx="3355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B7B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人類決策 D-001–D-025，可查核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34256" y="3675888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425696" y="3858768"/>
            <a:ext cx="3355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590288" y="4846320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主動暫停提問，全數經人類裁示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1584" y="3675888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8193024" y="3858768"/>
            <a:ext cx="3355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5,500+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357616" y="4846320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 GDScript（36 份）——</a:t>
            </a:r>
          </a:p>
          <a:p>
            <a:pPr marL="0" indent="0" algn="ctr">
              <a:buNone/>
            </a:pPr>
            <a:r>
              <a:rPr lang="en-US" sz="1150" dirty="0" err="1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可執行成品，不只企劃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可玩證據　</a:t>
            </a:r>
            <a:r>
              <a:rPr lang="en-US" sz="14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登入＋Firebase 排行榜 H5 成品已上線・7 份 JSON 資料驅動　</a:t>
            </a:r>
            <a:r>
              <a:rPr lang="en-US" sz="14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crushgamedemo-bloop.web.app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 證據｜送件日實測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自我對帳：所有申報值都是保守下限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64240" cy="548640"/>
          </a:xfrm>
          <a:prstGeom prst="roundRect">
            <a:avLst>
              <a:gd name="adj" fmla="val 1166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04088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87368" y="1463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送件口徑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56248" y="1463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2026-07-16 實測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56648" y="1463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12140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704088" y="212140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commits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87368" y="212140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120+（保守下限）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56248" y="21214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136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756648" y="212140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A8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申報低於實際 ✓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04088" y="285292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任務卡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087368" y="285292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 張全數完成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56248" y="28529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 張（27 完成＋1 進行中）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756648" y="285292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A8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完成數吻合 ✓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58444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704088" y="358444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人類決策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87368" y="35844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56248" y="35844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 筆（送件週新增 D-026）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756648" y="358444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A8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申報低於實際 ✓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31596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704088" y="431596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提問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087368" y="43159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筆全 ANSWERED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56248" y="43159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筆全 ANSWERED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756648" y="431596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A8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完全吻合 ✓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504748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704088" y="504748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GDScript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087368" y="504748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5,500+ 行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56248" y="50474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5,620 行（非空白行）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756648" y="504748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A8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申報低於實際 ✓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6928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數字只少報、不多報。</a:t>
            </a:r>
            <a:r>
              <a:rPr lang="en-US" sz="130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實測於 2026-07-16、HEAD 56e0020，</a:t>
            </a:r>
            <a:r>
              <a:rPr lang="zh-TW" altLang="en-US" sz="130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</a:t>
            </a:r>
            <a:r>
              <a:rPr lang="en-US" sz="1300" dirty="0" err="1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跑逐字對帳</a:t>
            </a:r>
            <a:r>
              <a:rPr lang="en-US" sz="130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2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772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可稽核、可重現、可直接玩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011680" y="1920240"/>
            <a:ext cx="8165592" cy="713232"/>
          </a:xfrm>
          <a:prstGeom prst="roundRect">
            <a:avLst>
              <a:gd name="adj" fmla="val 11538"/>
            </a:avLst>
          </a:prstGeom>
          <a:solidFill>
            <a:srgbClr val="3A467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2240280" y="2075688"/>
            <a:ext cx="402336" cy="402336"/>
          </a:xfrm>
          <a:prstGeom prst="ellipse">
            <a:avLst/>
          </a:prstGeom>
          <a:solidFill>
            <a:srgbClr val="F9C9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24028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1920240"/>
            <a:ext cx="717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遊戲方向、功能取捨、帳號授權、美術採用、最終驗收——均由參賽者負責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011680" y="2816352"/>
            <a:ext cx="8165592" cy="713232"/>
          </a:xfrm>
          <a:prstGeom prst="roundRect">
            <a:avLst>
              <a:gd name="adj" fmla="val 11538"/>
            </a:avLst>
          </a:prstGeom>
          <a:solidFill>
            <a:srgbClr val="3A467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2240280" y="2971800"/>
            <a:ext cx="402336" cy="402336"/>
          </a:xfrm>
          <a:prstGeom prst="ellipse">
            <a:avLst/>
          </a:prstGeom>
          <a:solidFill>
            <a:srgbClr val="F9C9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240280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2816352"/>
            <a:ext cx="717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用於：規劃、程式、美術協作、雲端操作、驗證與文件整理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011680" y="3712464"/>
            <a:ext cx="8165592" cy="713232"/>
          </a:xfrm>
          <a:prstGeom prst="roundRect">
            <a:avLst>
              <a:gd name="adj" fmla="val 11538"/>
            </a:avLst>
          </a:prstGeom>
          <a:solidFill>
            <a:srgbClr val="3A467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2240280" y="3867912"/>
            <a:ext cx="402336" cy="402336"/>
          </a:xfrm>
          <a:prstGeom prst="ellipse">
            <a:avLst/>
          </a:prstGeom>
          <a:solidFill>
            <a:srgbClr val="F9C9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240280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640" y="3712464"/>
            <a:ext cx="717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本清單依已發生且經參賽者驗證的 repo 紀錄整理，未將未完成工作寫成完成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011680" y="4608576"/>
            <a:ext cx="8165592" cy="713232"/>
          </a:xfrm>
          <a:prstGeom prst="roundRect">
            <a:avLst>
              <a:gd name="adj" fmla="val 11538"/>
            </a:avLst>
          </a:prstGeom>
          <a:solidFill>
            <a:srgbClr val="3A467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2240280" y="4764024"/>
            <a:ext cx="402336" cy="402336"/>
          </a:xfrm>
          <a:prstGeom prst="ellipse">
            <a:avLst/>
          </a:prstGeom>
          <a:solidFill>
            <a:srgbClr val="F9C9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2240280" y="4764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4608576"/>
            <a:ext cx="717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全部證據可於 repo 查核：規格、決策、任務卡、Git 歷史一應俱全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E9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CrushGameDemo ・ https://crushgamedemo-bloop.web.app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891</Words>
  <Application>Microsoft Office PowerPoint</Application>
  <PresentationFormat>寬螢幕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Microsoft JhengHei</vt:lpstr>
      <vt:lpstr>Arial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黃柏鈞-軟體開發處-網銀總部</cp:lastModifiedBy>
  <cp:revision>7</cp:revision>
  <dcterms:created xsi:type="dcterms:W3CDTF">2026-07-16T09:26:30Z</dcterms:created>
  <dcterms:modified xsi:type="dcterms:W3CDTF">2026-07-16T10:01:26Z</dcterms:modified>
</cp:coreProperties>
</file>